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6858000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3"/>
    <p:restoredTop sz="94658"/>
  </p:normalViewPr>
  <p:slideViewPr>
    <p:cSldViewPr snapToGrid="0" snapToObjects="1">
      <p:cViewPr varScale="1">
        <p:scale>
          <a:sx n="90" d="100"/>
          <a:sy n="90" d="100"/>
        </p:scale>
        <p:origin x="3112" y="2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600200" y="320040"/>
            <a:ext cx="3657600" cy="658368"/>
          </a:xfrm>
          <a:prstGeom prst="roundRect">
            <a:avLst>
              <a:gd name="adj" fmla="val 8000"/>
            </a:avLst>
          </a:prstGeom>
          <a:solidFill>
            <a:srgbClr val="EEF2F5"/>
          </a:solidFill>
          <a:ln w="13970">
            <a:solidFill>
              <a:srgbClr val="2B2B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2000" b="1" dirty="0">
                <a:solidFill>
                  <a:srgbClr val="2B2B2B"/>
                </a:solidFill>
                <a:latin typeface="Arial"/>
              </a:rPr>
              <a:t>Brazil surveillance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600200" y="1417320"/>
            <a:ext cx="3657600" cy="658368"/>
          </a:xfrm>
          <a:prstGeom prst="roundRect">
            <a:avLst>
              <a:gd name="adj" fmla="val 8000"/>
            </a:avLst>
          </a:prstGeom>
          <a:solidFill>
            <a:srgbClr val="E4ECF2"/>
          </a:solidFill>
          <a:ln w="13970">
            <a:solidFill>
              <a:srgbClr val="2B2B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2000" b="1" dirty="0">
                <a:solidFill>
                  <a:srgbClr val="2B2B2B"/>
                </a:solidFill>
                <a:latin typeface="Arial"/>
              </a:rPr>
              <a:t>Age-structured Bayesian SEIR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600200" y="2514600"/>
            <a:ext cx="3657600" cy="658368"/>
          </a:xfrm>
          <a:prstGeom prst="roundRect">
            <a:avLst>
              <a:gd name="adj" fmla="val 8000"/>
            </a:avLst>
          </a:prstGeom>
          <a:solidFill>
            <a:srgbClr val="DFE7EE"/>
          </a:solidFill>
          <a:ln w="13970">
            <a:solidFill>
              <a:srgbClr val="2B2B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2000" b="1" dirty="0">
                <a:solidFill>
                  <a:srgbClr val="2B2B2B"/>
                </a:solidFill>
                <a:latin typeface="Arial"/>
              </a:rPr>
              <a:t>Posterior weekly FOI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429000" y="978407"/>
            <a:ext cx="0" cy="438913"/>
          </a:xfrm>
          <a:prstGeom prst="line">
            <a:avLst/>
          </a:prstGeom>
          <a:ln w="17780">
            <a:solidFill>
              <a:srgbClr val="2B2B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429000" y="2075688"/>
            <a:ext cx="0" cy="438912"/>
          </a:xfrm>
          <a:prstGeom prst="line">
            <a:avLst/>
          </a:prstGeom>
          <a:ln w="17780">
            <a:solidFill>
              <a:srgbClr val="2B2B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91440" y="3794760"/>
            <a:ext cx="2651760" cy="786384"/>
          </a:xfrm>
          <a:prstGeom prst="roundRect">
            <a:avLst>
              <a:gd name="adj" fmla="val 8000"/>
            </a:avLst>
          </a:prstGeom>
          <a:solidFill>
            <a:srgbClr val="E8F0E9"/>
          </a:solidFill>
          <a:ln w="13970">
            <a:solidFill>
              <a:srgbClr val="2B2B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b="1" dirty="0">
                <a:solidFill>
                  <a:srgbClr val="2B2B2B"/>
                </a:solidFill>
                <a:latin typeface="Arial"/>
              </a:rPr>
              <a:t>Travel vaccination</a:t>
            </a:r>
          </a:p>
          <a:p>
            <a:pPr algn="ctr"/>
            <a:r>
              <a:rPr sz="1100" dirty="0">
                <a:solidFill>
                  <a:srgbClr val="2B2B2B"/>
                </a:solidFill>
                <a:latin typeface="Arial"/>
              </a:rPr>
              <a:t>entry timing × trip duration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0" y="3794760"/>
            <a:ext cx="2651760" cy="786384"/>
          </a:xfrm>
          <a:prstGeom prst="roundRect">
            <a:avLst>
              <a:gd name="adj" fmla="val 8000"/>
            </a:avLst>
          </a:prstGeom>
          <a:solidFill>
            <a:srgbClr val="F3E8E6"/>
          </a:solidFill>
          <a:ln w="13970">
            <a:solidFill>
              <a:srgbClr val="2B2B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b="1" dirty="0">
                <a:solidFill>
                  <a:srgbClr val="2B2B2B"/>
                </a:solidFill>
                <a:latin typeface="Arial"/>
              </a:rPr>
              <a:t>Outbreak</a:t>
            </a:r>
            <a:r>
              <a:rPr lang="ko-KR" altLang="en-US" b="1" dirty="0">
                <a:solidFill>
                  <a:srgbClr val="2B2B2B"/>
                </a:solidFill>
                <a:latin typeface="Arial"/>
              </a:rPr>
              <a:t> </a:t>
            </a:r>
            <a:r>
              <a:rPr lang="en-US" altLang="ko-KR" b="1" dirty="0">
                <a:solidFill>
                  <a:srgbClr val="2B2B2B"/>
                </a:solidFill>
                <a:latin typeface="Arial"/>
              </a:rPr>
              <a:t>r</a:t>
            </a:r>
            <a:r>
              <a:rPr b="1" dirty="0">
                <a:solidFill>
                  <a:srgbClr val="2B2B2B"/>
                </a:solidFill>
                <a:latin typeface="Arial"/>
              </a:rPr>
              <a:t>esponse</a:t>
            </a:r>
          </a:p>
          <a:p>
            <a:pPr algn="ctr"/>
            <a:r>
              <a:rPr sz="1100" dirty="0">
                <a:solidFill>
                  <a:srgbClr val="2B2B2B"/>
                </a:solidFill>
                <a:latin typeface="Arial"/>
              </a:rPr>
              <a:t>timing × coverage</a:t>
            </a:r>
          </a:p>
        </p:txBody>
      </p:sp>
      <p:cxnSp>
        <p:nvCxnSpPr>
          <p:cNvPr id="9" name="Connector 8"/>
          <p:cNvCxnSpPr/>
          <p:nvPr/>
        </p:nvCxnSpPr>
        <p:spPr>
          <a:xfrm flipH="1">
            <a:off x="1417320" y="3172968"/>
            <a:ext cx="2011680" cy="621792"/>
          </a:xfrm>
          <a:prstGeom prst="line">
            <a:avLst/>
          </a:prstGeom>
          <a:ln w="17780">
            <a:solidFill>
              <a:srgbClr val="2B2B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429000" y="3172968"/>
            <a:ext cx="2011680" cy="621792"/>
          </a:xfrm>
          <a:prstGeom prst="line">
            <a:avLst/>
          </a:prstGeom>
          <a:ln w="17780">
            <a:solidFill>
              <a:srgbClr val="2B2B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1051560" y="4983480"/>
            <a:ext cx="4754880" cy="566928"/>
          </a:xfrm>
          <a:prstGeom prst="roundRect">
            <a:avLst>
              <a:gd name="adj" fmla="val 8000"/>
            </a:avLst>
          </a:prstGeom>
          <a:solidFill>
            <a:srgbClr val="F2F0EA"/>
          </a:solidFill>
          <a:ln w="13970">
            <a:solidFill>
              <a:srgbClr val="2B2B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b="1">
                <a:solidFill>
                  <a:srgbClr val="2B2B2B"/>
                </a:solidFill>
                <a:latin typeface="Arial"/>
              </a:rPr>
              <a:t>Infection  →  symptomatic disease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417320" y="4581144"/>
            <a:ext cx="1188720" cy="402336"/>
          </a:xfrm>
          <a:prstGeom prst="line">
            <a:avLst/>
          </a:prstGeom>
          <a:ln w="17780">
            <a:solidFill>
              <a:srgbClr val="2B2B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4251960" y="4581144"/>
            <a:ext cx="1188720" cy="402336"/>
          </a:xfrm>
          <a:prstGeom prst="line">
            <a:avLst/>
          </a:prstGeom>
          <a:ln w="17780">
            <a:solidFill>
              <a:srgbClr val="2B2B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051560" y="5989320"/>
            <a:ext cx="4754880" cy="566928"/>
          </a:xfrm>
          <a:prstGeom prst="roundRect">
            <a:avLst>
              <a:gd name="adj" fmla="val 8000"/>
            </a:avLst>
          </a:prstGeom>
          <a:solidFill>
            <a:srgbClr val="F2F0EA"/>
          </a:solidFill>
          <a:ln w="13970">
            <a:solidFill>
              <a:srgbClr val="2B2B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b="1">
                <a:solidFill>
                  <a:srgbClr val="2B2B2B"/>
                </a:solidFill>
                <a:latin typeface="Arial"/>
              </a:rPr>
              <a:t>Hospitalisation · death · DALY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429000" y="5550408"/>
            <a:ext cx="0" cy="438912"/>
          </a:xfrm>
          <a:prstGeom prst="line">
            <a:avLst/>
          </a:prstGeom>
          <a:ln w="17780">
            <a:solidFill>
              <a:srgbClr val="2B2B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1508760" y="7086600"/>
            <a:ext cx="3840480" cy="566928"/>
          </a:xfrm>
          <a:prstGeom prst="roundRect">
            <a:avLst>
              <a:gd name="adj" fmla="val 8000"/>
            </a:avLst>
          </a:prstGeom>
          <a:solidFill>
            <a:srgbClr val="F3E8E6"/>
          </a:solidFill>
          <a:ln w="13970">
            <a:solidFill>
              <a:srgbClr val="2B2B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b="1">
                <a:solidFill>
                  <a:srgbClr val="2B2B2B"/>
                </a:solidFill>
                <a:latin typeface="Arial"/>
              </a:rPr>
              <a:t>Vaccine-attributable SAE · death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429000" y="6556248"/>
            <a:ext cx="0" cy="530352"/>
          </a:xfrm>
          <a:prstGeom prst="line">
            <a:avLst/>
          </a:prstGeom>
          <a:ln w="17780">
            <a:solidFill>
              <a:srgbClr val="2B2B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1508760" y="8183879"/>
            <a:ext cx="3840480" cy="640080"/>
          </a:xfrm>
          <a:prstGeom prst="roundRect">
            <a:avLst>
              <a:gd name="adj" fmla="val 8000"/>
            </a:avLst>
          </a:prstGeom>
          <a:solidFill>
            <a:srgbClr val="2B2B2B"/>
          </a:solidFill>
          <a:ln w="13970">
            <a:solidFill>
              <a:srgbClr val="2B2B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Benefit–risk ratio (BRR)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429000" y="7653527"/>
            <a:ext cx="0" cy="530352"/>
          </a:xfrm>
          <a:prstGeom prst="line">
            <a:avLst/>
          </a:prstGeom>
          <a:ln w="17780">
            <a:solidFill>
              <a:srgbClr val="2B2B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41</Words>
  <Application>Microsoft Macintosh PowerPoint</Application>
  <PresentationFormat>On-screen Show (4:3)</PresentationFormat>
  <Paragraphs>11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효림 강</cp:lastModifiedBy>
  <cp:revision>2</cp:revision>
  <dcterms:created xsi:type="dcterms:W3CDTF">2013-01-27T09:14:16Z</dcterms:created>
  <dcterms:modified xsi:type="dcterms:W3CDTF">2026-08-25T04:10:37Z</dcterms:modified>
  <cp:category/>
</cp:coreProperties>
</file>