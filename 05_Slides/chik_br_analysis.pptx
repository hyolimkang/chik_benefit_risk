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59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88492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C14A3-F008-A042-8E4A-933FB7824C98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D1971-FF76-484D-A8CF-5B8EA36212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D1971-FF76-484D-A8CF-5B8EA362123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404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D1971-FF76-484D-A8CF-5B8EA362123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098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BB146-89EA-75DC-C551-AA52ACEB0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CB246-65A7-A367-B06B-26EB24913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3177F-FAF6-B11A-6DCE-558C9C12B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13FF231-E6C4-234F-B048-DED7AD7D76B6}" type="datetimeFigureOut">
              <a:rPr lang="en-GB" smtClean="0"/>
              <a:pPr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F59A4-EE15-E53A-E320-A6E2C43E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59E32-C4C7-23F2-9AF3-486AD6B5C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D7D97B2-EB77-C54E-BD4F-0173ADDBA2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33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FDD3-A84B-27D9-C9F2-0CCBDBCC0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06DA5-33D3-8AE1-5259-E37A99036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8B447-15C3-0AB2-0A72-306A79C4D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F231-E6C4-234F-B048-DED7AD7D76B6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BE564-1C0C-15FF-B755-E5A255C4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6154E-83C7-EF88-F749-3795CAE28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97B2-EB77-C54E-BD4F-0173ADDBA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140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29BE1-6A9F-990A-BA63-C461B7DF1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A6002-DBC8-CD7A-6FA3-C82629B18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418EA-6FA9-AAA4-B4C8-A74FF25F5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F231-E6C4-234F-B048-DED7AD7D76B6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80865-07FD-6B9A-B726-39AB283F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05E85-DB3E-91A3-F1B1-5B58C998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97B2-EB77-C54E-BD4F-0173ADDBA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63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F3919-FA7F-0720-35AF-F5D325E1D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67E81-1573-2A0C-C648-592D43A43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423C0-158C-6075-77A7-B8BD14B18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AF535-38B0-F58F-FD49-D379172C3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F231-E6C4-234F-B048-DED7AD7D76B6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15E84-02B9-FA80-8942-A2B021D0A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F5CA2-70BC-DD9C-02BF-5FD89EE5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97B2-EB77-C54E-BD4F-0173ADDBA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230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883A7-21ED-90D7-C10D-9F76D5F78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8C592-8C56-C25B-F82B-6DCDE4BF2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E160D-3815-7670-8348-8168CE480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841A8-2B62-BB0D-15B1-62AA3FDD86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22A9B-491F-9F55-90A1-A3409F526E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118A40-221B-188E-E321-F56AE356D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F231-E6C4-234F-B048-DED7AD7D76B6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BAE051-B6C0-FF0F-22D7-AA1A67D8F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F34427-A779-B759-E1AC-6550A667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97B2-EB77-C54E-BD4F-0173ADDBA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860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32DC2-C966-87A5-1C16-C46128D42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65B08B-823F-92F6-FB49-59E222F72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F231-E6C4-234F-B048-DED7AD7D76B6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6D9A3-5739-8632-A74E-D1B03EE7A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F28EB-5DDB-0965-DF82-FB0C4E176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97B2-EB77-C54E-BD4F-0173ADDBA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877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C7C333-3A6A-57B9-CCE5-383E9F0BD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F231-E6C4-234F-B048-DED7AD7D76B6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15D78-31D8-D814-9096-73AEA02B2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11253-C3E5-1D24-564F-4F083990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97B2-EB77-C54E-BD4F-0173ADDBA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172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88EB-12CB-B4D1-2B08-5F5B61B82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CDF83-5A2F-9B95-5CC9-6B42C90B0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1B9D0-A196-7E4B-7B5B-3388E3D67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6FEAE-7A99-51F3-A995-E17C438D6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F231-E6C4-234F-B048-DED7AD7D76B6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1B751-45C9-A077-E411-DCE8F2E0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CBEC1-FA8D-2063-A5FB-E801C7C2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97B2-EB77-C54E-BD4F-0173ADDBA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0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54FD-9F7C-949B-2E70-98B45C0CA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56DF00-C7C6-C485-1F20-89F0D4F4C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3DFDF-1E57-B4BA-9430-6745C3933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797D7-908F-FD66-7DE2-2760BA1BB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F231-E6C4-234F-B048-DED7AD7D76B6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F74B7-CE90-1EF2-B480-A98AFC7FC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0FE46-1019-CD15-7CF5-9B1829DE6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97B2-EB77-C54E-BD4F-0173ADDBA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424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6139-607A-2A19-F3E0-DE3256E1C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C3D75-5816-A2C1-5503-EBD627596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CEB73-E0FF-84BC-B149-B1571207E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F231-E6C4-234F-B048-DED7AD7D76B6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9689F-BAA5-013D-8D8B-269B63501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6B5E2-C6C7-CCC4-0F79-F3CBB3FEE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97B2-EB77-C54E-BD4F-0173ADDBA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113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B7BDF7-6CB1-60EE-84AB-7EABF4C499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A3BAB-E75A-2E27-AA8C-4AFCD2B3B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1E1CC-84AD-8FCF-752D-9670F5CB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F231-E6C4-234F-B048-DED7AD7D76B6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D0E56-8AE2-8BC3-2EF5-CF11977F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25F6E-FCE8-2E31-F3B2-12952B4A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D97B2-EB77-C54E-BD4F-0173ADDBA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1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75EE6C-8AC8-3861-9FA5-F99C68936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648E0-8678-0DEF-12E5-66BD26CF2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24112-76FA-2D41-9B1B-41F5B25E6D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13FF231-E6C4-234F-B048-DED7AD7D76B6}" type="datetimeFigureOut">
              <a:rPr lang="en-GB" smtClean="0"/>
              <a:pPr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A52BC-6916-CFAD-7863-2540E7C9E3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5CE00-AF8C-6A0A-23C0-EC7118982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D7D97B2-EB77-C54E-BD4F-0173ADDBA2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628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o.int/emergencies/disease-outbreak-news/item/2025-DON567#:~:text=La%20R%C3%A9union%2C%20France,organ%20failure)%20have%20been%20reported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1890-78C4-FB15-2FCE-27ED05AC8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158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Chikungunya vaccine (</a:t>
            </a:r>
            <a:r>
              <a:rPr lang="en-GB" dirty="0" err="1"/>
              <a:t>Ixchiq</a:t>
            </a:r>
            <a:r>
              <a:rPr lang="en-GB" dirty="0"/>
              <a:t>®) </a:t>
            </a:r>
            <a:br>
              <a:rPr lang="en-GB" dirty="0"/>
            </a:br>
            <a:r>
              <a:rPr lang="en-GB" dirty="0"/>
              <a:t>benefit risk analysis</a:t>
            </a:r>
          </a:p>
        </p:txBody>
      </p:sp>
    </p:spTree>
    <p:extLst>
      <p:ext uri="{BB962C8B-B14F-4D97-AF65-F5344CB8AC3E}">
        <p14:creationId xmlns:p14="http://schemas.microsoft.com/office/powerpoint/2010/main" val="2410768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CD90-DC34-6E0C-3EEB-D7198DED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70" y="333227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Input data</a:t>
            </a:r>
            <a:endParaRPr lang="en-GB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22640A-4BA0-EDDE-055E-C5C6A676A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263511"/>
              </p:ext>
            </p:extLst>
          </p:nvPr>
        </p:nvGraphicFramePr>
        <p:xfrm>
          <a:off x="557570" y="1548823"/>
          <a:ext cx="11333069" cy="174195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30988">
                  <a:extLst>
                    <a:ext uri="{9D8B030D-6E8A-4147-A177-3AD203B41FA5}">
                      <a16:colId xmlns:a16="http://schemas.microsoft.com/office/drawing/2014/main" val="203974579"/>
                    </a:ext>
                  </a:extLst>
                </a:gridCol>
                <a:gridCol w="475740">
                  <a:extLst>
                    <a:ext uri="{9D8B030D-6E8A-4147-A177-3AD203B41FA5}">
                      <a16:colId xmlns:a16="http://schemas.microsoft.com/office/drawing/2014/main" val="823009821"/>
                    </a:ext>
                  </a:extLst>
                </a:gridCol>
                <a:gridCol w="672577">
                  <a:extLst>
                    <a:ext uri="{9D8B030D-6E8A-4147-A177-3AD203B41FA5}">
                      <a16:colId xmlns:a16="http://schemas.microsoft.com/office/drawing/2014/main" val="277913741"/>
                    </a:ext>
                  </a:extLst>
                </a:gridCol>
                <a:gridCol w="956930">
                  <a:extLst>
                    <a:ext uri="{9D8B030D-6E8A-4147-A177-3AD203B41FA5}">
                      <a16:colId xmlns:a16="http://schemas.microsoft.com/office/drawing/2014/main" val="3292722184"/>
                    </a:ext>
                  </a:extLst>
                </a:gridCol>
                <a:gridCol w="1722474">
                  <a:extLst>
                    <a:ext uri="{9D8B030D-6E8A-4147-A177-3AD203B41FA5}">
                      <a16:colId xmlns:a16="http://schemas.microsoft.com/office/drawing/2014/main" val="3932867643"/>
                    </a:ext>
                  </a:extLst>
                </a:gridCol>
                <a:gridCol w="1807535">
                  <a:extLst>
                    <a:ext uri="{9D8B030D-6E8A-4147-A177-3AD203B41FA5}">
                      <a16:colId xmlns:a16="http://schemas.microsoft.com/office/drawing/2014/main" val="3324838096"/>
                    </a:ext>
                  </a:extLst>
                </a:gridCol>
                <a:gridCol w="2627015">
                  <a:extLst>
                    <a:ext uri="{9D8B030D-6E8A-4147-A177-3AD203B41FA5}">
                      <a16:colId xmlns:a16="http://schemas.microsoft.com/office/drawing/2014/main" val="606756775"/>
                    </a:ext>
                  </a:extLst>
                </a:gridCol>
                <a:gridCol w="2139810">
                  <a:extLst>
                    <a:ext uri="{9D8B030D-6E8A-4147-A177-3AD203B41FA5}">
                      <a16:colId xmlns:a16="http://schemas.microsoft.com/office/drawing/2014/main" val="3403726827"/>
                    </a:ext>
                  </a:extLst>
                </a:gridCol>
              </a:tblGrid>
              <a:tr h="666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age_group</a:t>
                      </a:r>
                      <a:endParaRPr lang="en-GB" sz="140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SAE</a:t>
                      </a:r>
                      <a:endParaRPr lang="en-GB" sz="140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death</a:t>
                      </a:r>
                      <a:endParaRPr lang="en-GB" sz="140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tot_doses</a:t>
                      </a:r>
                      <a:endParaRPr lang="en-GB" sz="140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</a:rPr>
                        <a:t>P(</a:t>
                      </a:r>
                      <a:r>
                        <a:rPr lang="en-GB" sz="1400" b="1" dirty="0" err="1">
                          <a:solidFill>
                            <a:srgbClr val="000000"/>
                          </a:solidFill>
                          <a:effectLst/>
                        </a:rPr>
                        <a:t>SAE|Vaccination</a:t>
                      </a: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GB" sz="14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</a:rPr>
                        <a:t>P(</a:t>
                      </a:r>
                      <a:r>
                        <a:rPr lang="en-GB" sz="1400" b="1" dirty="0" err="1">
                          <a:solidFill>
                            <a:srgbClr val="000000"/>
                          </a:solidFill>
                          <a:effectLst/>
                        </a:rPr>
                        <a:t>Death|Vaccination</a:t>
                      </a: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GB" sz="14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</a:rPr>
                        <a:t>P(</a:t>
                      </a:r>
                      <a:r>
                        <a:rPr lang="en-GB" sz="1400" b="1" dirty="0" err="1">
                          <a:solidFill>
                            <a:srgbClr val="000000"/>
                          </a:solidFill>
                          <a:effectLst/>
                        </a:rPr>
                        <a:t>SAE|chikungunya</a:t>
                      </a: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</a:rPr>
                        <a:t> clinical + confirmed)</a:t>
                      </a:r>
                      <a:endParaRPr lang="en-GB" sz="14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</a:rPr>
                        <a:t>P(</a:t>
                      </a:r>
                      <a:r>
                        <a:rPr lang="en-GB" sz="1400" b="1" dirty="0" err="1">
                          <a:solidFill>
                            <a:srgbClr val="000000"/>
                          </a:solidFill>
                          <a:effectLst/>
                        </a:rPr>
                        <a:t>Death|chikungunya</a:t>
                      </a: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</a:rPr>
                        <a:t> clinical + confirmed)</a:t>
                      </a:r>
                      <a:endParaRPr lang="en-GB" sz="1400" dirty="0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11165030"/>
                  </a:ext>
                </a:extLst>
              </a:tr>
              <a:tr h="537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18-64</a:t>
                      </a:r>
                      <a:endParaRPr lang="en-GB" sz="140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n-GB" sz="140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GB" sz="140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32949</a:t>
                      </a:r>
                      <a:endParaRPr lang="en-GB" sz="140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0.0002</a:t>
                      </a:r>
                      <a:endParaRPr lang="en-GB" sz="14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GB" sz="14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0.0217</a:t>
                      </a:r>
                      <a:endParaRPr lang="en-GB" sz="14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0.00054</a:t>
                      </a:r>
                      <a:endParaRPr lang="en-GB" sz="1400" dirty="0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342884102"/>
                  </a:ext>
                </a:extLst>
              </a:tr>
              <a:tr h="537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</a:rPr>
                        <a:t>65+</a:t>
                      </a:r>
                      <a:endParaRPr lang="en-GB" sz="14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22</a:t>
                      </a:r>
                      <a:endParaRPr lang="en-GB" sz="140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GB" sz="140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</a:rPr>
                        <a:t>18445</a:t>
                      </a:r>
                      <a:endParaRPr lang="en-GB" sz="140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0.0012</a:t>
                      </a:r>
                      <a:endParaRPr lang="en-GB" sz="14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0.00005</a:t>
                      </a:r>
                      <a:endParaRPr lang="en-GB" sz="14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0.0277</a:t>
                      </a:r>
                      <a:endParaRPr lang="en-GB" sz="14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</a:rPr>
                        <a:t>0.00388</a:t>
                      </a:r>
                      <a:endParaRPr lang="en-GB" sz="1400" dirty="0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5172316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B7BBA87-7548-4B06-A855-973C397CAFA4}"/>
              </a:ext>
            </a:extLst>
          </p:cNvPr>
          <p:cNvSpPr txBox="1"/>
          <p:nvPr/>
        </p:nvSpPr>
        <p:spPr>
          <a:xfrm>
            <a:off x="557570" y="3567224"/>
            <a:ext cx="111888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Death attributable to chikungunya is based on all chikungunya symptomatic cases (not based on IFR), potentially could be higher than infection fatality rate.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Due to lack of data, CFR from Brazil surveillance data was used as a proxy of IFR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True IFR could be lower than CFR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Hospitalisation among total chikungunya symptomatic cases was used as a proxy of SAE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SAE has stricter definitions with life threatening cases while hospitalisation covers broader spectrum. True SAE could be lower than the observed hospitalisation  </a:t>
            </a:r>
          </a:p>
        </p:txBody>
      </p:sp>
    </p:spTree>
    <p:extLst>
      <p:ext uri="{BB962C8B-B14F-4D97-AF65-F5344CB8AC3E}">
        <p14:creationId xmlns:p14="http://schemas.microsoft.com/office/powerpoint/2010/main" val="1462144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D95D8-DB85-3EF8-B7A3-01C5EBD25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Chikungunya fatality rate and </a:t>
            </a:r>
            <a:r>
              <a:rPr lang="en-US" sz="2800" dirty="0" err="1"/>
              <a:t>hospitalistion</a:t>
            </a:r>
            <a:r>
              <a:rPr lang="en-US" sz="2800" dirty="0"/>
              <a:t> rate by age group</a:t>
            </a:r>
            <a:endParaRPr lang="en-GB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0CAF25-45BB-1246-E98A-0304E40FA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374" y="1467784"/>
            <a:ext cx="5658293" cy="46769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BCFC49-5B56-2D72-030C-10D7722BF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33" y="1473100"/>
            <a:ext cx="5939700" cy="467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04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8274F-202D-9492-60E1-9F18197D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Model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66FBB-830D-0614-CF3B-88DABDE86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34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Scenario</a:t>
            </a:r>
          </a:p>
          <a:p>
            <a:r>
              <a:rPr lang="en-GB" sz="1800" dirty="0"/>
              <a:t>Vaccination for a traveller fully susceptible to chikungunya to an outbreak country:</a:t>
            </a:r>
          </a:p>
          <a:p>
            <a:pPr lvl="1"/>
            <a:r>
              <a:rPr lang="en-GB" sz="1600" dirty="0"/>
              <a:t>Small outbreak</a:t>
            </a:r>
          </a:p>
          <a:p>
            <a:pPr lvl="1"/>
            <a:r>
              <a:rPr lang="en-GB" sz="1600" dirty="0"/>
              <a:t>Medium outbreak</a:t>
            </a:r>
          </a:p>
          <a:p>
            <a:pPr lvl="1"/>
            <a:r>
              <a:rPr lang="en-GB" sz="1600" dirty="0"/>
              <a:t>Large outbreak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GB" sz="1800" dirty="0"/>
              <a:t>Travel duration varies by: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GB" sz="1400" dirty="0"/>
              <a:t>14 days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GB" sz="1400" dirty="0"/>
              <a:t>30 days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GB" sz="1400" dirty="0"/>
              <a:t>50 days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GB" sz="1400" i="1" dirty="0"/>
              <a:t>All assumed 4 months of outbreak duration based on La Reunion 2025 outbreak for attack rate calculation</a:t>
            </a:r>
          </a:p>
          <a:p>
            <a:r>
              <a:rPr lang="en-GB" sz="1800" dirty="0"/>
              <a:t>Vaccination for  residents in endemic countries </a:t>
            </a:r>
          </a:p>
          <a:p>
            <a:pPr lvl="1"/>
            <a:r>
              <a:rPr lang="en-GB" sz="1400" dirty="0"/>
              <a:t>Low endemic </a:t>
            </a:r>
          </a:p>
          <a:p>
            <a:pPr lvl="1"/>
            <a:r>
              <a:rPr lang="en-GB" sz="1400" dirty="0"/>
              <a:t>Moderate endemic </a:t>
            </a:r>
          </a:p>
          <a:p>
            <a:pPr lvl="1"/>
            <a:r>
              <a:rPr lang="en-GB" sz="1400" dirty="0"/>
              <a:t>High endemic</a:t>
            </a:r>
          </a:p>
        </p:txBody>
      </p:sp>
    </p:spTree>
    <p:extLst>
      <p:ext uri="{BB962C8B-B14F-4D97-AF65-F5344CB8AC3E}">
        <p14:creationId xmlns:p14="http://schemas.microsoft.com/office/powerpoint/2010/main" val="1520806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BBFCF-13D2-AEEA-76A5-EA8F0D6E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Outbreak duration (from La Reunion case) ~ 4 months</a:t>
            </a:r>
            <a:endParaRPr lang="en-GB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A82B67-F052-CD1D-CD42-6F87137A5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8982"/>
            <a:ext cx="7772400" cy="44932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6949B5-258F-0311-7C4A-AF5502DC6D26}"/>
              </a:ext>
            </a:extLst>
          </p:cNvPr>
          <p:cNvSpPr txBox="1"/>
          <p:nvPr/>
        </p:nvSpPr>
        <p:spPr>
          <a:xfrm>
            <a:off x="10640532" y="6390744"/>
            <a:ext cx="2224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WHO (2025)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39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8801A-D4C9-C048-43C3-34C72AD84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432"/>
            <a:ext cx="10515600" cy="1123433"/>
          </a:xfrm>
        </p:spPr>
        <p:txBody>
          <a:bodyPr>
            <a:normAutofit/>
          </a:bodyPr>
          <a:lstStyle/>
          <a:p>
            <a:r>
              <a:rPr lang="en-GB" sz="2800" dirty="0"/>
              <a:t>SAEs by outbreak size and exposure days (for travellers)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9524A6-1152-590A-DD39-AB9383EC2B84}"/>
              </a:ext>
            </a:extLst>
          </p:cNvPr>
          <p:cNvSpPr txBox="1"/>
          <p:nvPr/>
        </p:nvSpPr>
        <p:spPr>
          <a:xfrm>
            <a:off x="9260958" y="1148316"/>
            <a:ext cx="25837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Small outbreak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0% attack rate for 6 months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FOI = 0.21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Medium outbreak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20% attack rate for 6 months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FOI = 0.45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Large outbreak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30% attack rate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FOI = 0.71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1BE0C8-B992-7C7A-64A1-68CB28BDA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654" y="1148316"/>
            <a:ext cx="7224301" cy="558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11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C896-DEA0-73B0-B9DB-49F50BD6D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901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Benefit risk ratio</a:t>
            </a:r>
            <a:endParaRPr lang="en-GB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F1626-792C-E288-07A7-F7E170F4C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80" y="1205929"/>
            <a:ext cx="7772400" cy="550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548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BEED-4841-729A-F83B-6823849AD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1108D-B4C8-C1A8-483C-954E94866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016"/>
            <a:ext cx="10515600" cy="4351338"/>
          </a:xfrm>
        </p:spPr>
        <p:txBody>
          <a:bodyPr>
            <a:normAutofit/>
          </a:bodyPr>
          <a:lstStyle/>
          <a:p>
            <a:r>
              <a:rPr lang="en-GB" sz="2400" dirty="0"/>
              <a:t>Benefit risk ratio depends highly on </a:t>
            </a:r>
          </a:p>
          <a:p>
            <a:pPr lvl="1"/>
            <a:r>
              <a:rPr lang="en-GB" sz="1800" dirty="0"/>
              <a:t>Outbreak size </a:t>
            </a:r>
          </a:p>
          <a:p>
            <a:pPr lvl="1"/>
            <a:r>
              <a:rPr lang="en-GB" sz="1800" dirty="0"/>
              <a:t>Duration of outbreak</a:t>
            </a:r>
          </a:p>
          <a:p>
            <a:pPr lvl="1"/>
            <a:r>
              <a:rPr lang="en-GB" sz="1800" dirty="0"/>
              <a:t>Duration of travel (exposure time)</a:t>
            </a:r>
          </a:p>
          <a:p>
            <a:pPr lvl="2">
              <a:buFont typeface="Wingdings" pitchFamily="2" charset="2"/>
              <a:buChar char="Ø"/>
            </a:pPr>
            <a:r>
              <a:rPr lang="en-GB" sz="1400" dirty="0"/>
              <a:t>The larger the outbreak, the higher the vaccine benefit risk ratio </a:t>
            </a:r>
          </a:p>
          <a:p>
            <a:pPr lvl="2">
              <a:buFont typeface="Wingdings" pitchFamily="2" charset="2"/>
              <a:buChar char="Ø"/>
            </a:pPr>
            <a:r>
              <a:rPr lang="en-GB" sz="1400" dirty="0"/>
              <a:t>The longer the travel duration, the higher the vaccine benefit risk ratio </a:t>
            </a:r>
          </a:p>
          <a:p>
            <a:pPr lvl="2">
              <a:buFont typeface="Wingdings" pitchFamily="2" charset="2"/>
              <a:buChar char="Ø"/>
            </a:pPr>
            <a:r>
              <a:rPr lang="en-GB" sz="1400" dirty="0"/>
              <a:t>The shorter the outbreak duration with the same attack rate, the higher the vaccine benefit ratio </a:t>
            </a:r>
          </a:p>
          <a:p>
            <a:pPr lvl="2">
              <a:buFont typeface="Wingdings" pitchFamily="2" charset="2"/>
              <a:buChar char="Ø"/>
            </a:pPr>
            <a:r>
              <a:rPr lang="en-GB" sz="1400" dirty="0"/>
              <a:t>Varies by epidemiological context</a:t>
            </a:r>
          </a:p>
          <a:p>
            <a:r>
              <a:rPr lang="en-GB" sz="2200" dirty="0"/>
              <a:t>With the independent vaccine induced SAE rate and age-dependent background CFR and hospitalisation, vaccine is more favourable to elderlies</a:t>
            </a:r>
          </a:p>
        </p:txBody>
      </p:sp>
    </p:spTree>
    <p:extLst>
      <p:ext uri="{BB962C8B-B14F-4D97-AF65-F5344CB8AC3E}">
        <p14:creationId xmlns:p14="http://schemas.microsoft.com/office/powerpoint/2010/main" val="2896410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374</Words>
  <Application>Microsoft Macintosh PowerPoint</Application>
  <PresentationFormat>Widescreen</PresentationFormat>
  <Paragraphs>73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Courier New</vt:lpstr>
      <vt:lpstr>Wingdings</vt:lpstr>
      <vt:lpstr>Office Theme</vt:lpstr>
      <vt:lpstr>Chikungunya vaccine (Ixchiq®)  benefit risk analysis</vt:lpstr>
      <vt:lpstr>Input data</vt:lpstr>
      <vt:lpstr>Chikungunya fatality rate and hospitalistion rate by age group</vt:lpstr>
      <vt:lpstr>Model assumptions</vt:lpstr>
      <vt:lpstr>Outbreak duration (from La Reunion case) ~ 4 months</vt:lpstr>
      <vt:lpstr>SAEs by outbreak size and exposure days (for travellers)</vt:lpstr>
      <vt:lpstr>Benefit risk ratio</vt:lpstr>
      <vt:lpstr>Inference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Hyolim Kang</dc:creator>
  <cp:lastModifiedBy>Hyolim Kang</cp:lastModifiedBy>
  <cp:revision>1</cp:revision>
  <dcterms:created xsi:type="dcterms:W3CDTF">2025-09-26T01:56:36Z</dcterms:created>
  <dcterms:modified xsi:type="dcterms:W3CDTF">2025-09-26T06:21:55Z</dcterms:modified>
</cp:coreProperties>
</file>