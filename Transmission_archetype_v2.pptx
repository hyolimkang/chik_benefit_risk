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80" r:id="rId2"/>
    <p:sldId id="281" r:id="rId3"/>
    <p:sldId id="282" r:id="rId4"/>
    <p:sldId id="284" r:id="rId5"/>
    <p:sldId id="285" r:id="rId6"/>
    <p:sldId id="283" r:id="rId7"/>
    <p:sldId id="256" r:id="rId8"/>
    <p:sldId id="257" r:id="rId9"/>
    <p:sldId id="258" r:id="rId10"/>
    <p:sldId id="259" r:id="rId11"/>
    <p:sldId id="260" r:id="rId12"/>
    <p:sldId id="261" r:id="rId13"/>
    <p:sldId id="262" r:id="rId14"/>
    <p:sldId id="263" r:id="rId15"/>
    <p:sldId id="264" r:id="rId16"/>
    <p:sldId id="265" r:id="rId17"/>
    <p:sldId id="267" r:id="rId18"/>
    <p:sldId id="268" r:id="rId19"/>
    <p:sldId id="269" r:id="rId20"/>
    <p:sldId id="270" r:id="rId21"/>
    <p:sldId id="271" r:id="rId22"/>
    <p:sldId id="272" r:id="rId23"/>
    <p:sldId id="273" r:id="rId24"/>
    <p:sldId id="274" r:id="rId25"/>
    <p:sldId id="276" r:id="rId26"/>
    <p:sldId id="278" r:id="rId27"/>
    <p:sldId id="277"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537B19-8B66-48F4-BCBF-8DCA7199B730}" v="15" dt="2026-08-06T06:35:05.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0" autoAdjust="0"/>
    <p:restoredTop sz="94610"/>
  </p:normalViewPr>
  <p:slideViewPr>
    <p:cSldViewPr snapToGrid="0" snapToObjects="1">
      <p:cViewPr varScale="1">
        <p:scale>
          <a:sx n="59" d="100"/>
          <a:sy n="59" d="100"/>
        </p:scale>
        <p:origin x="7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508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AE9B8-79BC-CD0B-39E2-03644BE0A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EDE77-688F-14A0-5A8A-BD615BEE2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36EEC-60F3-7395-FF34-19C26AB94B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A14F7-821A-6A48-E4E9-34C3D564FBF4}"/>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40691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sv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sv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17194C-E102-9EEB-AF31-5E5BFAC02273}"/>
              </a:ext>
            </a:extLst>
          </p:cNvPr>
          <p:cNvSpPr txBox="1">
            <a:spLocks/>
          </p:cNvSpPr>
          <p:nvPr/>
        </p:nvSpPr>
        <p:spPr>
          <a:xfrm>
            <a:off x="468346" y="365125"/>
            <a:ext cx="10515600" cy="1325563"/>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highlight>
                  <a:srgbClr val="FFFF00"/>
                </a:highlight>
                <a:latin typeface="Calibri" panose="020F0502020204030204" pitchFamily="34" charset="0"/>
                <a:ea typeface="Calibri" panose="020F0502020204030204" pitchFamily="34" charset="0"/>
                <a:cs typeface="Calibri" panose="020F0502020204030204" pitchFamily="34" charset="0"/>
              </a:rPr>
              <a:t>1) On the identifiability of the transmission model, and how it interacts with the characterisation of prior immunity.</a:t>
            </a:r>
          </a:p>
        </p:txBody>
      </p:sp>
      <p:sp>
        <p:nvSpPr>
          <p:cNvPr id="3" name="내용 개체 틀 2">
            <a:extLst>
              <a:ext uri="{FF2B5EF4-FFF2-40B4-BE49-F238E27FC236}">
                <a16:creationId xmlns:a16="http://schemas.microsoft.com/office/drawing/2014/main" id="{FD08979B-6193-0740-4DCA-95FE4D8635C0}"/>
              </a:ext>
            </a:extLst>
          </p:cNvPr>
          <p:cNvSpPr txBox="1">
            <a:spLocks/>
          </p:cNvSpPr>
          <p:nvPr/>
        </p:nvSpPr>
        <p:spPr>
          <a:xfrm>
            <a:off x="468346" y="1127981"/>
            <a:ext cx="10322746" cy="31204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Initial susceptible is not jointly calibrated with beta</a:t>
            </a:r>
          </a:p>
          <a:p>
            <a:pPr lvl="1"/>
            <a:r>
              <a:rPr lang="en-GB" dirty="0"/>
              <a:t>Fixed using catalytic model (simple catalytic model) </a:t>
            </a:r>
          </a:p>
          <a:p>
            <a:pPr lvl="1"/>
            <a:r>
              <a:rPr lang="en-GB" dirty="0"/>
              <a:t>The model fit looks convincing, but beta is too flexible to absorb error and can be fitted to any level of S0 (non-identifiable)</a:t>
            </a:r>
          </a:p>
          <a:p>
            <a:pPr lvl="1"/>
            <a:r>
              <a:rPr lang="en-GB" dirty="0"/>
              <a:t>The problem is that model fits to all different levels of S0 (with flexible time-varying beta) but downstream BRR results are materially different</a:t>
            </a:r>
          </a:p>
        </p:txBody>
      </p:sp>
      <p:pic>
        <p:nvPicPr>
          <p:cNvPr id="4" name="그림 3">
            <a:extLst>
              <a:ext uri="{FF2B5EF4-FFF2-40B4-BE49-F238E27FC236}">
                <a16:creationId xmlns:a16="http://schemas.microsoft.com/office/drawing/2014/main" id="{32566AE3-0F56-57F3-1A41-68F9BAE7A2B5}"/>
              </a:ext>
            </a:extLst>
          </p:cNvPr>
          <p:cNvPicPr>
            <a:picLocks noChangeAspect="1"/>
          </p:cNvPicPr>
          <p:nvPr/>
        </p:nvPicPr>
        <p:blipFill>
          <a:blip r:embed="rId2"/>
          <a:stretch>
            <a:fillRect/>
          </a:stretch>
        </p:blipFill>
        <p:spPr>
          <a:xfrm>
            <a:off x="4121834" y="2876843"/>
            <a:ext cx="7962313" cy="3981157"/>
          </a:xfrm>
          <a:prstGeom prst="rect">
            <a:avLst/>
          </a:prstGeom>
        </p:spPr>
      </p:pic>
    </p:spTree>
    <p:extLst>
      <p:ext uri="{BB962C8B-B14F-4D97-AF65-F5344CB8AC3E}">
        <p14:creationId xmlns:p14="http://schemas.microsoft.com/office/powerpoint/2010/main" val="196897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919515B-2441-8F23-86E2-E83454EB5C3A}"/>
              </a:ext>
            </a:extLst>
          </p:cNvPr>
          <p:cNvSpPr txBox="1">
            <a:spLocks/>
          </p:cNvSpPr>
          <p:nvPr/>
        </p:nvSpPr>
        <p:spPr>
          <a:xfrm>
            <a:off x="838200" y="365125"/>
            <a:ext cx="10515600"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highlight>
                  <a:srgbClr val="FFFF00"/>
                </a:highlight>
                <a:latin typeface="Calibri" panose="020F0502020204030204" pitchFamily="34" charset="0"/>
                <a:ea typeface="Calibri" panose="020F0502020204030204" pitchFamily="34" charset="0"/>
                <a:cs typeface="Calibri" panose="020F0502020204030204" pitchFamily="34" charset="0"/>
              </a:rPr>
              <a:t>2) On the assumption of long-term history of chikungunya circulation </a:t>
            </a:r>
          </a:p>
        </p:txBody>
      </p:sp>
      <p:sp>
        <p:nvSpPr>
          <p:cNvPr id="3" name="내용 개체 틀 2">
            <a:extLst>
              <a:ext uri="{FF2B5EF4-FFF2-40B4-BE49-F238E27FC236}">
                <a16:creationId xmlns:a16="http://schemas.microsoft.com/office/drawing/2014/main" id="{FA3EB26A-670C-C1BA-22A0-F12F803EE08C}"/>
              </a:ext>
            </a:extLst>
          </p:cNvPr>
          <p:cNvSpPr txBox="1">
            <a:spLocks/>
          </p:cNvSpPr>
          <p:nvPr/>
        </p:nvSpPr>
        <p:spPr>
          <a:xfrm>
            <a:off x="838200" y="996596"/>
            <a:ext cx="10515600" cy="43513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latin typeface="Calibri" panose="020F0502020204030204" pitchFamily="34" charset="0"/>
                <a:ea typeface="Calibri" panose="020F0502020204030204" pitchFamily="34" charset="0"/>
                <a:cs typeface="Calibri" panose="020F0502020204030204" pitchFamily="34" charset="0"/>
              </a:rPr>
              <a:t>Average annual force of infection is based on long term exposure to chikungunya infection. In settings with short term exposure to chikungunya infection, this parameter should be interpreted with caution and not be misinterpreted as average annual FOI within the short-term exposure period.</a:t>
            </a:r>
          </a:p>
          <a:p>
            <a:r>
              <a:rPr lang="en-GB" sz="2000" dirty="0">
                <a:latin typeface="Calibri" panose="020F0502020204030204" pitchFamily="34" charset="0"/>
                <a:ea typeface="Calibri" panose="020F0502020204030204" pitchFamily="34" charset="0"/>
                <a:cs typeface="Calibri" panose="020F0502020204030204" pitchFamily="34" charset="0"/>
              </a:rPr>
              <a:t>The use of current long-term average FOI for future studies.. e.g., future projection of FOI? </a:t>
            </a:r>
          </a:p>
          <a:p>
            <a:r>
              <a:rPr lang="en-GB" sz="2000" dirty="0">
                <a:latin typeface="Calibri" panose="020F0502020204030204" pitchFamily="34" charset="0"/>
                <a:ea typeface="Calibri" panose="020F0502020204030204" pitchFamily="34" charset="0"/>
                <a:cs typeface="Calibri" panose="020F0502020204030204" pitchFamily="34" charset="0"/>
              </a:rPr>
              <a:t>Short term vs. long-term circulation in some countries is relatively clear (Brazil) but not in many countries. </a:t>
            </a:r>
            <a:br>
              <a:rPr lang="en-GB" sz="2000" dirty="0">
                <a:latin typeface="Calibri" panose="020F0502020204030204" pitchFamily="34" charset="0"/>
                <a:ea typeface="Calibri" panose="020F0502020204030204" pitchFamily="34" charset="0"/>
                <a:cs typeface="Calibri" panose="020F0502020204030204" pitchFamily="34" charset="0"/>
              </a:rPr>
            </a:br>
            <a:br>
              <a:rPr lang="en-GB" sz="2000" dirty="0">
                <a:latin typeface="Calibri" panose="020F0502020204030204" pitchFamily="34" charset="0"/>
                <a:ea typeface="Calibri" panose="020F0502020204030204" pitchFamily="34" charset="0"/>
                <a:cs typeface="Calibri" panose="020F0502020204030204" pitchFamily="34" charset="0"/>
              </a:rPr>
            </a:br>
            <a:endParaRPr lang="en-GB"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9697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13FED71C-23E7-7BDE-7468-A8D198F0D144}"/>
              </a:ext>
            </a:extLst>
          </p:cNvPr>
          <p:cNvSpPr txBox="1">
            <a:spLocks/>
          </p:cNvSpPr>
          <p:nvPr/>
        </p:nvSpPr>
        <p:spPr>
          <a:xfrm>
            <a:off x="838200" y="365125"/>
            <a:ext cx="10515600"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highlight>
                  <a:srgbClr val="FFFF00"/>
                </a:highlight>
                <a:latin typeface="Calibri" panose="020F0502020204030204" pitchFamily="34" charset="0"/>
                <a:ea typeface="Calibri" panose="020F0502020204030204" pitchFamily="34" charset="0"/>
                <a:cs typeface="Calibri" panose="020F0502020204030204" pitchFamily="34" charset="0"/>
              </a:rPr>
              <a:t>3) spatial concern that the authors raise themselves but do not fully reconcile</a:t>
            </a:r>
          </a:p>
        </p:txBody>
      </p:sp>
      <p:sp>
        <p:nvSpPr>
          <p:cNvPr id="5" name="내용 개체 틀 2">
            <a:extLst>
              <a:ext uri="{FF2B5EF4-FFF2-40B4-BE49-F238E27FC236}">
                <a16:creationId xmlns:a16="http://schemas.microsoft.com/office/drawing/2014/main" id="{59CC4A22-E1F2-C220-2A45-27CE0D492C44}"/>
              </a:ext>
            </a:extLst>
          </p:cNvPr>
          <p:cNvSpPr txBox="1">
            <a:spLocks/>
          </p:cNvSpPr>
          <p:nvPr/>
        </p:nvSpPr>
        <p:spPr>
          <a:xfrm>
            <a:off x="398854" y="773722"/>
            <a:ext cx="5618871" cy="641486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800" dirty="0">
                <a:latin typeface="Calibri" panose="020F0502020204030204" pitchFamily="34" charset="0"/>
                <a:ea typeface="Calibri" panose="020F0502020204030204" pitchFamily="34" charset="0"/>
                <a:cs typeface="Calibri" panose="020F0502020204030204" pitchFamily="34" charset="0"/>
              </a:rPr>
              <a:t>fitting one uniform epidemic curve with a single time varying transmission rate to that combined case series risks producing a fitted trajectory that is really an </a:t>
            </a:r>
            <a:r>
              <a:rPr lang="en-GB" sz="1800" dirty="0">
                <a:highlight>
                  <a:srgbClr val="FFFF00"/>
                </a:highlight>
                <a:latin typeface="Calibri" panose="020F0502020204030204" pitchFamily="34" charset="0"/>
                <a:ea typeface="Calibri" panose="020F0502020204030204" pitchFamily="34" charset="0"/>
                <a:cs typeface="Calibri" panose="020F0502020204030204" pitchFamily="34" charset="0"/>
              </a:rPr>
              <a:t>artefact of several overlapping local outbreaks rising and falling at different times and in different places rather than a genuine, interpretable transmission parameter for the state as a whole</a:t>
            </a:r>
            <a:br>
              <a:rPr lang="en-GB" sz="1800" dirty="0">
                <a:highlight>
                  <a:srgbClr val="FFFF00"/>
                </a:highlight>
                <a:latin typeface="Calibri" panose="020F0502020204030204" pitchFamily="34" charset="0"/>
                <a:ea typeface="Calibri" panose="020F0502020204030204" pitchFamily="34" charset="0"/>
                <a:cs typeface="Calibri" panose="020F0502020204030204" pitchFamily="34" charset="0"/>
              </a:rPr>
            </a:br>
            <a:endParaRPr lang="en-GB" sz="1800" dirty="0">
              <a:highlight>
                <a:srgbClr val="FFFF00"/>
              </a:highlight>
              <a:latin typeface="Calibri" panose="020F0502020204030204" pitchFamily="34" charset="0"/>
              <a:ea typeface="Calibri" panose="020F0502020204030204" pitchFamily="34" charset="0"/>
              <a:cs typeface="Calibri" panose="020F0502020204030204" pitchFamily="34" charset="0"/>
            </a:endParaRPr>
          </a:p>
          <a:p>
            <a:r>
              <a:rPr lang="en-GB" sz="1800" dirty="0">
                <a:latin typeface="Calibri" panose="020F0502020204030204" pitchFamily="34" charset="0"/>
                <a:ea typeface="Calibri" panose="020F0502020204030204" pitchFamily="34" charset="0"/>
                <a:cs typeface="Calibri" panose="020F0502020204030204" pitchFamily="34" charset="0"/>
              </a:rPr>
              <a:t>When estimating attack rate, should total N be restricted under spatial focality? Currently using the entire population of the state (effective population?)</a:t>
            </a:r>
          </a:p>
          <a:p>
            <a:endParaRPr lang="en-GB" sz="1800" dirty="0">
              <a:latin typeface="Calibri" panose="020F0502020204030204" pitchFamily="34" charset="0"/>
              <a:ea typeface="Calibri" panose="020F0502020204030204" pitchFamily="34" charset="0"/>
              <a:cs typeface="Calibri" panose="020F0502020204030204" pitchFamily="34" charset="0"/>
            </a:endParaRPr>
          </a:p>
          <a:p>
            <a:r>
              <a:rPr lang="en-GB" sz="1800" dirty="0">
                <a:latin typeface="Calibri" panose="020F0502020204030204" pitchFamily="34" charset="0"/>
                <a:ea typeface="Calibri" panose="020F0502020204030204" pitchFamily="34" charset="0"/>
                <a:cs typeface="Calibri" panose="020F0502020204030204" pitchFamily="34" charset="0"/>
              </a:rPr>
              <a:t>Travel vaccination:</a:t>
            </a:r>
          </a:p>
          <a:p>
            <a:pPr lvl="1"/>
            <a:r>
              <a:rPr lang="en-GB" sz="1800" dirty="0">
                <a:latin typeface="Calibri" panose="020F0502020204030204" pitchFamily="34" charset="0"/>
                <a:ea typeface="Calibri" panose="020F0502020204030204" pitchFamily="34" charset="0"/>
                <a:cs typeface="Calibri" panose="020F0502020204030204" pitchFamily="34" charset="0"/>
              </a:rPr>
              <a:t>spatial focality of chikungunya transmission, together with year-to-year variation in outbreak size and timing, might affect how representative these estimates are of the exposure a traveller would actually face</a:t>
            </a:r>
            <a:endParaRPr lang="en-GB" sz="1800" dirty="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pic>
        <p:nvPicPr>
          <p:cNvPr id="7" name="그림 6">
            <a:extLst>
              <a:ext uri="{FF2B5EF4-FFF2-40B4-BE49-F238E27FC236}">
                <a16:creationId xmlns:a16="http://schemas.microsoft.com/office/drawing/2014/main" id="{B38F9796-2D84-22F2-841F-29233949A0BF}"/>
              </a:ext>
            </a:extLst>
          </p:cNvPr>
          <p:cNvPicPr>
            <a:picLocks noChangeAspect="1"/>
          </p:cNvPicPr>
          <p:nvPr/>
        </p:nvPicPr>
        <p:blipFill>
          <a:blip r:embed="rId2"/>
          <a:stretch>
            <a:fillRect/>
          </a:stretch>
        </p:blipFill>
        <p:spPr>
          <a:xfrm>
            <a:off x="6096000" y="1080177"/>
            <a:ext cx="5984261" cy="4697645"/>
          </a:xfrm>
          <a:prstGeom prst="rect">
            <a:avLst/>
          </a:prstGeom>
        </p:spPr>
      </p:pic>
    </p:spTree>
    <p:extLst>
      <p:ext uri="{BB962C8B-B14F-4D97-AF65-F5344CB8AC3E}">
        <p14:creationId xmlns:p14="http://schemas.microsoft.com/office/powerpoint/2010/main" val="4162359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2C8ACA98-C2C6-D1DD-9A95-70B8E13C005D}"/>
              </a:ext>
            </a:extLst>
          </p:cNvPr>
          <p:cNvPicPr>
            <a:picLocks noChangeAspect="1"/>
          </p:cNvPicPr>
          <p:nvPr/>
        </p:nvPicPr>
        <p:blipFill>
          <a:blip r:embed="rId2"/>
          <a:stretch>
            <a:fillRect/>
          </a:stretch>
        </p:blipFill>
        <p:spPr>
          <a:xfrm>
            <a:off x="775138" y="0"/>
            <a:ext cx="5320862" cy="6858000"/>
          </a:xfrm>
          <a:prstGeom prst="rect">
            <a:avLst/>
          </a:prstGeom>
        </p:spPr>
      </p:pic>
      <p:pic>
        <p:nvPicPr>
          <p:cNvPr id="5" name="그림 4">
            <a:extLst>
              <a:ext uri="{FF2B5EF4-FFF2-40B4-BE49-F238E27FC236}">
                <a16:creationId xmlns:a16="http://schemas.microsoft.com/office/drawing/2014/main" id="{D0851F2E-BE1F-82E5-64F0-FB5181726099}"/>
              </a:ext>
            </a:extLst>
          </p:cNvPr>
          <p:cNvPicPr>
            <a:picLocks noChangeAspect="1"/>
          </p:cNvPicPr>
          <p:nvPr/>
        </p:nvPicPr>
        <p:blipFill>
          <a:blip r:embed="rId3"/>
          <a:stretch>
            <a:fillRect/>
          </a:stretch>
        </p:blipFill>
        <p:spPr>
          <a:xfrm>
            <a:off x="6077371" y="927222"/>
            <a:ext cx="6114629" cy="5079683"/>
          </a:xfrm>
          <a:prstGeom prst="rect">
            <a:avLst/>
          </a:prstGeom>
        </p:spPr>
      </p:pic>
    </p:spTree>
    <p:extLst>
      <p:ext uri="{BB962C8B-B14F-4D97-AF65-F5344CB8AC3E}">
        <p14:creationId xmlns:p14="http://schemas.microsoft.com/office/powerpoint/2010/main" val="19417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A09F7E7-7455-A832-92AE-039216A77C22}"/>
              </a:ext>
            </a:extLst>
          </p:cNvPr>
          <p:cNvPicPr>
            <a:picLocks noChangeAspect="1"/>
          </p:cNvPicPr>
          <p:nvPr/>
        </p:nvPicPr>
        <p:blipFill>
          <a:blip r:embed="rId2"/>
          <a:stretch>
            <a:fillRect/>
          </a:stretch>
        </p:blipFill>
        <p:spPr>
          <a:xfrm>
            <a:off x="1981200" y="0"/>
            <a:ext cx="8229599" cy="6858000"/>
          </a:xfrm>
          <a:prstGeom prst="rect">
            <a:avLst/>
          </a:prstGeom>
        </p:spPr>
      </p:pic>
    </p:spTree>
    <p:extLst>
      <p:ext uri="{BB962C8B-B14F-4D97-AF65-F5344CB8AC3E}">
        <p14:creationId xmlns:p14="http://schemas.microsoft.com/office/powerpoint/2010/main" val="1028636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D2E4025-2D1F-5D3C-DEAA-122027382E74}"/>
              </a:ext>
            </a:extLst>
          </p:cNvPr>
          <p:cNvSpPr txBox="1">
            <a:spLocks/>
          </p:cNvSpPr>
          <p:nvPr/>
        </p:nvSpPr>
        <p:spPr>
          <a:xfrm>
            <a:off x="442229" y="1969241"/>
            <a:ext cx="11307541" cy="4888759"/>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228600">
              <a:lnSpc>
                <a:spcPct val="90000"/>
              </a:lnSpc>
            </a:pPr>
            <a:r>
              <a:rPr lang="en-US" sz="1800" b="1" dirty="0">
                <a:latin typeface="Calibri" panose="020F0502020204030204" pitchFamily="34" charset="0"/>
                <a:ea typeface="Calibri" panose="020F0502020204030204" pitchFamily="34" charset="0"/>
                <a:cs typeface="Calibri" panose="020F0502020204030204" pitchFamily="34" charset="0"/>
              </a:rPr>
              <a:t>Susceptible pool assumption: </a:t>
            </a:r>
            <a:r>
              <a:rPr lang="en-US" sz="1800" dirty="0">
                <a:latin typeface="Calibri" panose="020F0502020204030204" pitchFamily="34" charset="0"/>
                <a:ea typeface="Calibri" panose="020F0502020204030204" pitchFamily="34" charset="0"/>
                <a:cs typeface="Calibri" panose="020F0502020204030204" pitchFamily="34" charset="0"/>
              </a:rPr>
              <a:t>susceptible pool size is fixed based on long-term average FOI using simple catalytic model (spatially coarse) – unvalidated immunity assumption</a:t>
            </a:r>
          </a:p>
          <a:p>
            <a:pPr indent="-228600">
              <a:lnSpc>
                <a:spcPct val="90000"/>
              </a:lnSpc>
            </a:pPr>
            <a:r>
              <a:rPr lang="en-US" sz="1800" b="1" dirty="0">
                <a:latin typeface="Calibri" panose="020F0502020204030204" pitchFamily="34" charset="0"/>
                <a:ea typeface="Calibri" panose="020F0502020204030204" pitchFamily="34" charset="0"/>
                <a:cs typeface="Calibri" panose="020F0502020204030204" pitchFamily="34" charset="0"/>
              </a:rPr>
              <a:t>Non-identifiability</a:t>
            </a:r>
            <a:r>
              <a:rPr lang="en-US" sz="1800" dirty="0">
                <a:latin typeface="Calibri" panose="020F0502020204030204" pitchFamily="34" charset="0"/>
                <a:ea typeface="Calibri" panose="020F0502020204030204" pitchFamily="34" charset="0"/>
                <a:cs typeface="Calibri" panose="020F0502020204030204" pitchFamily="34" charset="0"/>
              </a:rPr>
              <a:t>: β estimation too flexible to test this assumption (model cannot validate whether the current immunity assumption is correct)</a:t>
            </a:r>
          </a:p>
          <a:p>
            <a:pPr indent="-228600">
              <a:lnSpc>
                <a:spcPct val="90000"/>
              </a:lnSpc>
            </a:pPr>
            <a:r>
              <a:rPr lang="en-US" sz="1800" b="1" dirty="0">
                <a:latin typeface="Calibri" panose="020F0502020204030204" pitchFamily="34" charset="0"/>
                <a:ea typeface="Calibri" panose="020F0502020204030204" pitchFamily="34" charset="0"/>
                <a:cs typeface="Calibri" panose="020F0502020204030204" pitchFamily="34" charset="0"/>
              </a:rPr>
              <a:t>Spatial resolution</a:t>
            </a:r>
            <a:r>
              <a:rPr lang="en-US" sz="1800" dirty="0">
                <a:latin typeface="Calibri" panose="020F0502020204030204" pitchFamily="34" charset="0"/>
                <a:ea typeface="Calibri" panose="020F0502020204030204" pitchFamily="34" charset="0"/>
                <a:cs typeface="Calibri" panose="020F0502020204030204" pitchFamily="34" charset="0"/>
              </a:rPr>
              <a:t>: each state treated as homogeneous (well-mixed) vs. documented within-state heterogeneity  unreconciled</a:t>
            </a:r>
          </a:p>
          <a:p>
            <a:pPr indent="-228600">
              <a:lnSpc>
                <a:spcPct val="90000"/>
              </a:lnSpc>
            </a:pPr>
            <a:r>
              <a:rPr lang="en-GB" sz="1800" dirty="0">
                <a:latin typeface="Calibri" panose="020F0502020204030204" pitchFamily="34" charset="0"/>
                <a:ea typeface="Calibri" panose="020F0502020204030204" pitchFamily="34" charset="0"/>
                <a:cs typeface="Calibri" panose="020F0502020204030204" pitchFamily="34" charset="0"/>
              </a:rPr>
              <a:t>The fitted β(t) is a model artefact, calibrated to a number of aggregated outbreaks with temporally staggered and geographically heterogeneous pattern </a:t>
            </a:r>
            <a:r>
              <a:rPr lang="en-GB" sz="18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need to check which state is okay with aggregation but which are not? </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432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00887" y="2274849"/>
            <a:ext cx="10789920" cy="640080"/>
          </a:xfrm>
          <a:prstGeom prst="rect">
            <a:avLst/>
          </a:prstGeom>
          <a:noFill/>
          <a:ln/>
        </p:spPr>
        <p:txBody>
          <a:bodyPr wrap="square" lIns="0" tIns="0" rIns="0" bIns="0" rtlCol="0" anchor="ctr"/>
          <a:lstStyle/>
          <a:p>
            <a:pPr marL="0" indent="0" algn="ctr">
              <a:buNone/>
            </a:pPr>
            <a:r>
              <a:rPr lang="en-US" sz="3000" b="1" dirty="0">
                <a:solidFill>
                  <a:srgbClr val="000000"/>
                </a:solidFill>
              </a:rPr>
              <a:t>Transmission archetype and </a:t>
            </a:r>
          </a:p>
          <a:p>
            <a:pPr marL="0" indent="0" algn="ctr">
              <a:buNone/>
            </a:pPr>
            <a:r>
              <a:rPr lang="en-US" sz="3000" b="1" dirty="0">
                <a:solidFill>
                  <a:srgbClr val="000000"/>
                </a:solidFill>
              </a:rPr>
              <a:t>comorbidity-stratified burden model</a:t>
            </a:r>
            <a:endParaRPr lang="en-US" sz="3000" dirty="0"/>
          </a:p>
        </p:txBody>
      </p:sp>
      <p:sp>
        <p:nvSpPr>
          <p:cNvPr id="6" name="Shape 4"/>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 Analysis step</a:t>
            </a:r>
            <a:endParaRPr lang="en-US" sz="2500" dirty="0"/>
          </a:p>
        </p:txBody>
      </p:sp>
      <p:sp>
        <p:nvSpPr>
          <p:cNvPr id="5" name="Shape 3"/>
          <p:cNvSpPr/>
          <p:nvPr/>
        </p:nvSpPr>
        <p:spPr>
          <a:xfrm>
            <a:off x="713232" y="1399032"/>
            <a:ext cx="384048" cy="384048"/>
          </a:xfrm>
          <a:prstGeom prst="ellipse">
            <a:avLst/>
          </a:prstGeom>
          <a:solidFill>
            <a:srgbClr val="1F2A44"/>
          </a:solidFill>
          <a:ln w="12700">
            <a:solidFill>
              <a:srgbClr val="1F2A44"/>
            </a:solidFill>
            <a:prstDash val="solid"/>
          </a:ln>
        </p:spPr>
        <p:txBody>
          <a:bodyPr/>
          <a:lstStyle/>
          <a:p>
            <a:endParaRPr lang="en-GB"/>
          </a:p>
        </p:txBody>
      </p:sp>
      <p:sp>
        <p:nvSpPr>
          <p:cNvPr id="6" name="Text 4"/>
          <p:cNvSpPr/>
          <p:nvPr/>
        </p:nvSpPr>
        <p:spPr>
          <a:xfrm>
            <a:off x="713232" y="1490472"/>
            <a:ext cx="384048" cy="137160"/>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325880" y="1371600"/>
            <a:ext cx="3108960" cy="274320"/>
          </a:xfrm>
          <a:prstGeom prst="rect">
            <a:avLst/>
          </a:prstGeom>
          <a:noFill/>
          <a:ln/>
        </p:spPr>
        <p:txBody>
          <a:bodyPr wrap="square" lIns="0" tIns="0" rIns="0" bIns="0" rtlCol="0" anchor="ctr"/>
          <a:lstStyle/>
          <a:p>
            <a:pPr marL="0" indent="0">
              <a:buNone/>
            </a:pPr>
            <a:r>
              <a:rPr lang="en-US" sz="1500" b="1" dirty="0">
                <a:solidFill>
                  <a:srgbClr val="000000"/>
                </a:solidFill>
              </a:rPr>
              <a:t>Transmission history</a:t>
            </a:r>
            <a:endParaRPr lang="en-US" sz="1500" dirty="0"/>
          </a:p>
        </p:txBody>
      </p:sp>
      <p:sp>
        <p:nvSpPr>
          <p:cNvPr id="8" name="Text 6"/>
          <p:cNvSpPr/>
          <p:nvPr/>
        </p:nvSpPr>
        <p:spPr>
          <a:xfrm>
            <a:off x="4480560" y="1380744"/>
            <a:ext cx="6903720" cy="457200"/>
          </a:xfrm>
          <a:prstGeom prst="rect">
            <a:avLst/>
          </a:prstGeom>
          <a:noFill/>
          <a:ln/>
        </p:spPr>
        <p:txBody>
          <a:bodyPr wrap="square" lIns="0" tIns="0" rIns="0" bIns="0" rtlCol="0" anchor="ctr">
            <a:normAutofit/>
          </a:bodyPr>
          <a:lstStyle/>
          <a:p>
            <a:pPr marL="0" indent="0">
              <a:buNone/>
            </a:pPr>
            <a:r>
              <a:rPr lang="en-US" sz="1200" dirty="0">
                <a:solidFill>
                  <a:srgbClr val="000000"/>
                </a:solidFill>
              </a:rPr>
              <a:t>Classify 103 countries into A–D archetypes based on sustained circulation, endemic equilibrium, episodic recurrence, or conditional potential.</a:t>
            </a:r>
            <a:endParaRPr lang="en-US" sz="1200" dirty="0"/>
          </a:p>
        </p:txBody>
      </p:sp>
      <p:sp>
        <p:nvSpPr>
          <p:cNvPr id="9" name="Shape 7"/>
          <p:cNvSpPr/>
          <p:nvPr/>
        </p:nvSpPr>
        <p:spPr>
          <a:xfrm>
            <a:off x="905256" y="1801368"/>
            <a:ext cx="0" cy="521208"/>
          </a:xfrm>
          <a:prstGeom prst="line">
            <a:avLst/>
          </a:prstGeom>
          <a:noFill/>
          <a:ln w="12700">
            <a:solidFill>
              <a:srgbClr val="BDBDBD"/>
            </a:solidFill>
            <a:prstDash val="solid"/>
          </a:ln>
        </p:spPr>
        <p:txBody>
          <a:bodyPr/>
          <a:lstStyle/>
          <a:p>
            <a:endParaRPr lang="en-GB"/>
          </a:p>
        </p:txBody>
      </p:sp>
      <p:sp>
        <p:nvSpPr>
          <p:cNvPr id="10" name="Shape 8"/>
          <p:cNvSpPr/>
          <p:nvPr/>
        </p:nvSpPr>
        <p:spPr>
          <a:xfrm>
            <a:off x="713232" y="2459736"/>
            <a:ext cx="384048" cy="384048"/>
          </a:xfrm>
          <a:prstGeom prst="ellipse">
            <a:avLst/>
          </a:prstGeom>
          <a:solidFill>
            <a:srgbClr val="1F2A44"/>
          </a:solidFill>
          <a:ln w="12700">
            <a:solidFill>
              <a:srgbClr val="1F2A44"/>
            </a:solidFill>
            <a:prstDash val="solid"/>
          </a:ln>
        </p:spPr>
        <p:txBody>
          <a:bodyPr/>
          <a:lstStyle/>
          <a:p>
            <a:endParaRPr lang="en-GB"/>
          </a:p>
        </p:txBody>
      </p:sp>
      <p:sp>
        <p:nvSpPr>
          <p:cNvPr id="11" name="Text 9"/>
          <p:cNvSpPr/>
          <p:nvPr/>
        </p:nvSpPr>
        <p:spPr>
          <a:xfrm>
            <a:off x="713232" y="2551176"/>
            <a:ext cx="384048" cy="137160"/>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1325880" y="2432304"/>
            <a:ext cx="3108960" cy="274320"/>
          </a:xfrm>
          <a:prstGeom prst="rect">
            <a:avLst/>
          </a:prstGeom>
          <a:noFill/>
          <a:ln/>
        </p:spPr>
        <p:txBody>
          <a:bodyPr wrap="square" lIns="0" tIns="0" rIns="0" bIns="0" rtlCol="0" anchor="ctr"/>
          <a:lstStyle/>
          <a:p>
            <a:pPr marL="0" indent="0">
              <a:buNone/>
            </a:pPr>
            <a:r>
              <a:rPr lang="en-US" sz="1500" b="1" dirty="0">
                <a:solidFill>
                  <a:srgbClr val="000000"/>
                </a:solidFill>
              </a:rPr>
              <a:t>Archetype-specific infection model</a:t>
            </a:r>
            <a:endParaRPr lang="en-US" sz="1500" dirty="0"/>
          </a:p>
        </p:txBody>
      </p:sp>
      <p:sp>
        <p:nvSpPr>
          <p:cNvPr id="13" name="Text 11"/>
          <p:cNvSpPr/>
          <p:nvPr/>
        </p:nvSpPr>
        <p:spPr>
          <a:xfrm>
            <a:off x="4480560" y="2441448"/>
            <a:ext cx="6903720" cy="457200"/>
          </a:xfrm>
          <a:prstGeom prst="rect">
            <a:avLst/>
          </a:prstGeom>
          <a:noFill/>
          <a:ln/>
        </p:spPr>
        <p:txBody>
          <a:bodyPr wrap="square" lIns="0" tIns="0" rIns="0" bIns="0" rtlCol="0" anchor="ctr">
            <a:normAutofit/>
          </a:bodyPr>
          <a:lstStyle/>
          <a:p>
            <a:pPr marL="0" indent="0">
              <a:buNone/>
            </a:pPr>
            <a:r>
              <a:rPr lang="en-US" sz="1200" dirty="0">
                <a:solidFill>
                  <a:srgbClr val="000000"/>
                </a:solidFill>
              </a:rPr>
              <a:t>Replace lifelong continuous exposure with effective historical exposure duration and infection probability.</a:t>
            </a:r>
            <a:endParaRPr lang="en-US" sz="1200" dirty="0"/>
          </a:p>
        </p:txBody>
      </p:sp>
      <p:sp>
        <p:nvSpPr>
          <p:cNvPr id="14" name="Shape 12"/>
          <p:cNvSpPr/>
          <p:nvPr/>
        </p:nvSpPr>
        <p:spPr>
          <a:xfrm>
            <a:off x="905256" y="2862072"/>
            <a:ext cx="0" cy="521208"/>
          </a:xfrm>
          <a:prstGeom prst="line">
            <a:avLst/>
          </a:prstGeom>
          <a:noFill/>
          <a:ln w="12700">
            <a:solidFill>
              <a:srgbClr val="BDBDBD"/>
            </a:solidFill>
            <a:prstDash val="solid"/>
          </a:ln>
        </p:spPr>
        <p:txBody>
          <a:bodyPr/>
          <a:lstStyle/>
          <a:p>
            <a:endParaRPr lang="en-GB"/>
          </a:p>
        </p:txBody>
      </p:sp>
      <p:sp>
        <p:nvSpPr>
          <p:cNvPr id="15" name="Shape 13"/>
          <p:cNvSpPr/>
          <p:nvPr/>
        </p:nvSpPr>
        <p:spPr>
          <a:xfrm>
            <a:off x="713232" y="3520440"/>
            <a:ext cx="384048" cy="384048"/>
          </a:xfrm>
          <a:prstGeom prst="ellipse">
            <a:avLst/>
          </a:prstGeom>
          <a:solidFill>
            <a:srgbClr val="1F2A44"/>
          </a:solidFill>
          <a:ln w="12700">
            <a:solidFill>
              <a:srgbClr val="1F2A44"/>
            </a:solidFill>
            <a:prstDash val="solid"/>
          </a:ln>
        </p:spPr>
        <p:txBody>
          <a:bodyPr/>
          <a:lstStyle/>
          <a:p>
            <a:endParaRPr lang="en-GB"/>
          </a:p>
        </p:txBody>
      </p:sp>
      <p:sp>
        <p:nvSpPr>
          <p:cNvPr id="16" name="Text 14"/>
          <p:cNvSpPr/>
          <p:nvPr/>
        </p:nvSpPr>
        <p:spPr>
          <a:xfrm>
            <a:off x="713232" y="3611880"/>
            <a:ext cx="384048" cy="137160"/>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1325880" y="3493008"/>
            <a:ext cx="3108960" cy="274320"/>
          </a:xfrm>
          <a:prstGeom prst="rect">
            <a:avLst/>
          </a:prstGeom>
          <a:noFill/>
          <a:ln/>
        </p:spPr>
        <p:txBody>
          <a:bodyPr wrap="square" lIns="0" tIns="0" rIns="0" bIns="0" rtlCol="0" anchor="ctr"/>
          <a:lstStyle/>
          <a:p>
            <a:pPr marL="0" indent="0">
              <a:buNone/>
            </a:pPr>
            <a:r>
              <a:rPr lang="en-US" sz="1500" b="1" dirty="0">
                <a:solidFill>
                  <a:srgbClr val="000000"/>
                </a:solidFill>
              </a:rPr>
              <a:t>Comorbidity structure</a:t>
            </a:r>
            <a:endParaRPr lang="en-US" sz="1500" dirty="0"/>
          </a:p>
        </p:txBody>
      </p:sp>
      <p:sp>
        <p:nvSpPr>
          <p:cNvPr id="18" name="Text 16"/>
          <p:cNvSpPr/>
          <p:nvPr/>
        </p:nvSpPr>
        <p:spPr>
          <a:xfrm>
            <a:off x="4480560" y="3502152"/>
            <a:ext cx="6903720" cy="457200"/>
          </a:xfrm>
          <a:prstGeom prst="rect">
            <a:avLst/>
          </a:prstGeom>
          <a:noFill/>
          <a:ln/>
        </p:spPr>
        <p:txBody>
          <a:bodyPr wrap="square" lIns="0" tIns="0" rIns="0" bIns="0" rtlCol="0" anchor="ctr">
            <a:normAutofit/>
          </a:bodyPr>
          <a:lstStyle/>
          <a:p>
            <a:pPr marL="0" indent="0">
              <a:buNone/>
            </a:pPr>
            <a:r>
              <a:rPr lang="en-US" sz="1200" dirty="0">
                <a:solidFill>
                  <a:srgbClr val="000000"/>
                </a:solidFill>
              </a:rPr>
              <a:t>Convert 7 underlying-condition prevalences into mutually exclusive 0, 1, and 2+ comorbidity groups.</a:t>
            </a:r>
            <a:endParaRPr lang="en-US" sz="1200" dirty="0"/>
          </a:p>
        </p:txBody>
      </p:sp>
      <p:sp>
        <p:nvSpPr>
          <p:cNvPr id="19" name="Shape 17"/>
          <p:cNvSpPr/>
          <p:nvPr/>
        </p:nvSpPr>
        <p:spPr>
          <a:xfrm>
            <a:off x="905256" y="3922776"/>
            <a:ext cx="0" cy="521208"/>
          </a:xfrm>
          <a:prstGeom prst="line">
            <a:avLst/>
          </a:prstGeom>
          <a:noFill/>
          <a:ln w="12700">
            <a:solidFill>
              <a:srgbClr val="BDBDBD"/>
            </a:solidFill>
            <a:prstDash val="solid"/>
          </a:ln>
        </p:spPr>
        <p:txBody>
          <a:bodyPr/>
          <a:lstStyle/>
          <a:p>
            <a:endParaRPr lang="en-GB"/>
          </a:p>
        </p:txBody>
      </p:sp>
      <p:sp>
        <p:nvSpPr>
          <p:cNvPr id="20" name="Shape 18"/>
          <p:cNvSpPr/>
          <p:nvPr/>
        </p:nvSpPr>
        <p:spPr>
          <a:xfrm>
            <a:off x="713232" y="4581144"/>
            <a:ext cx="384048" cy="384048"/>
          </a:xfrm>
          <a:prstGeom prst="ellipse">
            <a:avLst/>
          </a:prstGeom>
          <a:solidFill>
            <a:srgbClr val="1F2A44"/>
          </a:solidFill>
          <a:ln w="12700">
            <a:solidFill>
              <a:srgbClr val="1F2A44"/>
            </a:solidFill>
            <a:prstDash val="solid"/>
          </a:ln>
        </p:spPr>
        <p:txBody>
          <a:bodyPr/>
          <a:lstStyle/>
          <a:p>
            <a:endParaRPr lang="en-GB"/>
          </a:p>
        </p:txBody>
      </p:sp>
      <p:sp>
        <p:nvSpPr>
          <p:cNvPr id="21" name="Text 19"/>
          <p:cNvSpPr/>
          <p:nvPr/>
        </p:nvSpPr>
        <p:spPr>
          <a:xfrm>
            <a:off x="713232" y="4672584"/>
            <a:ext cx="384048" cy="137160"/>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1325880" y="4553712"/>
            <a:ext cx="3108960" cy="274320"/>
          </a:xfrm>
          <a:prstGeom prst="rect">
            <a:avLst/>
          </a:prstGeom>
          <a:noFill/>
          <a:ln/>
        </p:spPr>
        <p:txBody>
          <a:bodyPr wrap="square" lIns="0" tIns="0" rIns="0" bIns="0" rtlCol="0" anchor="ctr"/>
          <a:lstStyle/>
          <a:p>
            <a:pPr marL="0" indent="0">
              <a:buNone/>
            </a:pPr>
            <a:r>
              <a:rPr lang="en-US" sz="1500" b="1" dirty="0">
                <a:solidFill>
                  <a:srgbClr val="000000"/>
                </a:solidFill>
              </a:rPr>
              <a:t>Clinical risk and burden</a:t>
            </a:r>
            <a:endParaRPr lang="en-US" sz="1500" dirty="0"/>
          </a:p>
        </p:txBody>
      </p:sp>
      <p:sp>
        <p:nvSpPr>
          <p:cNvPr id="23" name="Text 21"/>
          <p:cNvSpPr/>
          <p:nvPr/>
        </p:nvSpPr>
        <p:spPr>
          <a:xfrm>
            <a:off x="4480560" y="4562856"/>
            <a:ext cx="6903720" cy="457200"/>
          </a:xfrm>
          <a:prstGeom prst="rect">
            <a:avLst/>
          </a:prstGeom>
          <a:noFill/>
          <a:ln/>
        </p:spPr>
        <p:txBody>
          <a:bodyPr wrap="square" lIns="0" tIns="0" rIns="0" bIns="0" rtlCol="0" anchor="ctr">
            <a:normAutofit/>
          </a:bodyPr>
          <a:lstStyle/>
          <a:p>
            <a:pPr marL="0" indent="0">
              <a:buNone/>
            </a:pPr>
            <a:r>
              <a:rPr lang="en-US" sz="1200" dirty="0">
                <a:solidFill>
                  <a:srgbClr val="000000"/>
                </a:solidFill>
              </a:rPr>
              <a:t>Apply comorbidity-specific hospitalisation and death risks, then compute hospitalisations, deaths and DALYs.</a:t>
            </a:r>
            <a:endParaRPr lang="en-US" sz="1200" dirty="0"/>
          </a:p>
        </p:txBody>
      </p:sp>
      <p:sp>
        <p:nvSpPr>
          <p:cNvPr id="26" name="Shape 24"/>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Motivation: move beyond a single long-term catalytic model?</a:t>
            </a:r>
            <a:endParaRPr lang="en-US" sz="2500" dirty="0"/>
          </a:p>
        </p:txBody>
      </p:sp>
      <p:pic>
        <p:nvPicPr>
          <p:cNvPr id="5" name="Image 0" descr="/mnt/data/pptx_unzip/ppt/media/image1.png"/>
          <p:cNvPicPr>
            <a:picLocks noChangeAspect="1"/>
          </p:cNvPicPr>
          <p:nvPr/>
        </p:nvPicPr>
        <p:blipFill>
          <a:blip r:embed="rId3"/>
          <a:stretch>
            <a:fillRect/>
          </a:stretch>
        </p:blipFill>
        <p:spPr>
          <a:xfrm>
            <a:off x="294392" y="859536"/>
            <a:ext cx="5256004" cy="4535423"/>
          </a:xfrm>
          <a:prstGeom prst="rect">
            <a:avLst/>
          </a:prstGeom>
        </p:spPr>
      </p:pic>
      <p:sp>
        <p:nvSpPr>
          <p:cNvPr id="6" name="Text 3"/>
          <p:cNvSpPr/>
          <p:nvPr/>
        </p:nvSpPr>
        <p:spPr>
          <a:xfrm>
            <a:off x="5897880" y="1458468"/>
            <a:ext cx="5440680" cy="27432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320" dirty="0">
                <a:solidFill>
                  <a:srgbClr val="000000"/>
                </a:solidFill>
                <a:latin typeface="Arial" pitchFamily="34" charset="0"/>
                <a:ea typeface="Arial" pitchFamily="34" charset="-122"/>
                <a:cs typeface="Arial" pitchFamily="34" charset="-120"/>
              </a:rPr>
              <a:t>A long-term average FOI can make all settings look as if exposure accumulated continuously throughout life.</a:t>
            </a:r>
            <a:endParaRPr lang="en-US" sz="1320" dirty="0"/>
          </a:p>
          <a:p>
            <a:pPr marL="285750" indent="-285750">
              <a:buFont typeface="Arial" panose="020B0604020202020204" pitchFamily="34" charset="0"/>
              <a:buChar char="•"/>
            </a:pPr>
            <a:r>
              <a:rPr lang="en-US" sz="1320" dirty="0">
                <a:solidFill>
                  <a:srgbClr val="000000"/>
                </a:solidFill>
                <a:latin typeface="Arial" pitchFamily="34" charset="0"/>
                <a:ea typeface="Arial" pitchFamily="34" charset="-122"/>
                <a:cs typeface="Arial" pitchFamily="34" charset="-120"/>
              </a:rPr>
              <a:t>This is problematic where chikungunya was introduced recently or occurs as episodic outbreaks.</a:t>
            </a:r>
            <a:endParaRPr lang="en-US" sz="1320" dirty="0"/>
          </a:p>
          <a:p>
            <a:pPr marL="285750" indent="-285750">
              <a:buFont typeface="Arial" panose="020B0604020202020204" pitchFamily="34" charset="0"/>
              <a:buChar char="•"/>
            </a:pPr>
            <a:r>
              <a:rPr lang="en-US" sz="1320" dirty="0">
                <a:solidFill>
                  <a:srgbClr val="000000"/>
                </a:solidFill>
                <a:latin typeface="Arial" pitchFamily="34" charset="0"/>
                <a:ea typeface="Arial" pitchFamily="34" charset="-122"/>
                <a:cs typeface="Arial" pitchFamily="34" charset="-120"/>
              </a:rPr>
              <a:t>A single catalytic model can therefore understate incidence and older-age burden in finite-history settings.</a:t>
            </a:r>
            <a:endParaRPr lang="en-US" sz="1320" dirty="0"/>
          </a:p>
        </p:txBody>
      </p:sp>
      <p:sp>
        <p:nvSpPr>
          <p:cNvPr id="9" name="Shape 6"/>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Countries are classified into 4 archetypes</a:t>
            </a:r>
            <a:endParaRPr lang="en-US" sz="2500" dirty="0"/>
          </a:p>
        </p:txBody>
      </p:sp>
      <p:pic>
        <p:nvPicPr>
          <p:cNvPr id="5" name="Image 0" descr="/mnt/data/pptx_unzip/ppt/media/image2.png"/>
          <p:cNvPicPr>
            <a:picLocks noChangeAspect="1"/>
          </p:cNvPicPr>
          <p:nvPr/>
        </p:nvPicPr>
        <p:blipFill>
          <a:blip r:embed="rId3"/>
          <a:stretch>
            <a:fillRect/>
          </a:stretch>
        </p:blipFill>
        <p:spPr>
          <a:xfrm>
            <a:off x="338032" y="1283709"/>
            <a:ext cx="6885728" cy="3132843"/>
          </a:xfrm>
          <a:prstGeom prst="rect">
            <a:avLst/>
          </a:prstGeom>
        </p:spPr>
      </p:pic>
      <p:sp>
        <p:nvSpPr>
          <p:cNvPr id="6" name="Text 3"/>
          <p:cNvSpPr/>
          <p:nvPr/>
        </p:nvSpPr>
        <p:spPr>
          <a:xfrm>
            <a:off x="7360920" y="1143000"/>
            <a:ext cx="4023360" cy="274320"/>
          </a:xfrm>
          <a:prstGeom prst="rect">
            <a:avLst/>
          </a:prstGeom>
          <a:noFill/>
          <a:ln/>
        </p:spPr>
        <p:txBody>
          <a:bodyPr wrap="square" lIns="0" tIns="0" rIns="0" bIns="0" rtlCol="0" anchor="ctr"/>
          <a:lstStyle/>
          <a:p>
            <a:pPr marL="0" indent="0">
              <a:buNone/>
            </a:pPr>
            <a:r>
              <a:rPr lang="en-US" sz="1600" b="1" dirty="0">
                <a:solidFill>
                  <a:srgbClr val="000000"/>
                </a:solidFill>
              </a:rPr>
              <a:t>103 countries classified</a:t>
            </a:r>
            <a:endParaRPr lang="en-US" sz="1600" dirty="0"/>
          </a:p>
        </p:txBody>
      </p:sp>
      <p:sp>
        <p:nvSpPr>
          <p:cNvPr id="7" name="Shape 4"/>
          <p:cNvSpPr/>
          <p:nvPr/>
        </p:nvSpPr>
        <p:spPr>
          <a:xfrm>
            <a:off x="7360920" y="1691640"/>
            <a:ext cx="384048" cy="256032"/>
          </a:xfrm>
          <a:prstGeom prst="roundRect">
            <a:avLst>
              <a:gd name="adj" fmla="val 25000"/>
            </a:avLst>
          </a:prstGeom>
          <a:solidFill>
            <a:srgbClr val="E64B35"/>
          </a:solidFill>
          <a:ln w="12700">
            <a:solidFill>
              <a:srgbClr val="E64B35">
                <a:alpha val="0"/>
              </a:srgbClr>
            </a:solidFill>
            <a:prstDash val="solid"/>
          </a:ln>
        </p:spPr>
        <p:txBody>
          <a:bodyPr/>
          <a:lstStyle/>
          <a:p>
            <a:endParaRPr lang="en-GB"/>
          </a:p>
        </p:txBody>
      </p:sp>
      <p:sp>
        <p:nvSpPr>
          <p:cNvPr id="8" name="Text 5"/>
          <p:cNvSpPr/>
          <p:nvPr/>
        </p:nvSpPr>
        <p:spPr>
          <a:xfrm>
            <a:off x="7360920" y="1728216"/>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A</a:t>
            </a:r>
            <a:endParaRPr lang="en-US" sz="850" dirty="0"/>
          </a:p>
        </p:txBody>
      </p:sp>
      <p:sp>
        <p:nvSpPr>
          <p:cNvPr id="9" name="Text 6"/>
          <p:cNvSpPr/>
          <p:nvPr/>
        </p:nvSpPr>
        <p:spPr>
          <a:xfrm>
            <a:off x="7863840" y="1709928"/>
            <a:ext cx="2880360" cy="201168"/>
          </a:xfrm>
          <a:prstGeom prst="rect">
            <a:avLst/>
          </a:prstGeom>
          <a:noFill/>
          <a:ln/>
        </p:spPr>
        <p:txBody>
          <a:bodyPr wrap="square" lIns="0" tIns="0" rIns="0" bIns="0" rtlCol="0" anchor="ctr"/>
          <a:lstStyle/>
          <a:p>
            <a:pPr marL="0" indent="0">
              <a:buNone/>
            </a:pPr>
            <a:r>
              <a:rPr lang="en-US" sz="1150" dirty="0">
                <a:solidFill>
                  <a:srgbClr val="000000"/>
                </a:solidFill>
              </a:rPr>
              <a:t>Finite circulation since introduction</a:t>
            </a:r>
            <a:endParaRPr lang="en-US" sz="1150" dirty="0"/>
          </a:p>
        </p:txBody>
      </p:sp>
      <p:sp>
        <p:nvSpPr>
          <p:cNvPr id="10" name="Text 7"/>
          <p:cNvSpPr/>
          <p:nvPr/>
        </p:nvSpPr>
        <p:spPr>
          <a:xfrm>
            <a:off x="10927080" y="1709928"/>
            <a:ext cx="411480" cy="201168"/>
          </a:xfrm>
          <a:prstGeom prst="rect">
            <a:avLst/>
          </a:prstGeom>
          <a:noFill/>
          <a:ln/>
        </p:spPr>
        <p:txBody>
          <a:bodyPr wrap="square" lIns="0" tIns="0" rIns="0" bIns="0" rtlCol="0" anchor="ctr"/>
          <a:lstStyle/>
          <a:p>
            <a:pPr marL="0" indent="0" algn="r">
              <a:buNone/>
            </a:pPr>
            <a:r>
              <a:rPr lang="en-US" sz="1150" b="1" dirty="0">
                <a:solidFill>
                  <a:srgbClr val="000000"/>
                </a:solidFill>
              </a:rPr>
              <a:t>39</a:t>
            </a:r>
            <a:endParaRPr lang="en-US" sz="1150" dirty="0"/>
          </a:p>
        </p:txBody>
      </p:sp>
      <p:sp>
        <p:nvSpPr>
          <p:cNvPr id="11" name="Shape 8"/>
          <p:cNvSpPr/>
          <p:nvPr/>
        </p:nvSpPr>
        <p:spPr>
          <a:xfrm>
            <a:off x="7360920" y="2221992"/>
            <a:ext cx="384048" cy="256032"/>
          </a:xfrm>
          <a:prstGeom prst="roundRect">
            <a:avLst>
              <a:gd name="adj" fmla="val 25000"/>
            </a:avLst>
          </a:prstGeom>
          <a:solidFill>
            <a:srgbClr val="00A087"/>
          </a:solidFill>
          <a:ln w="12700">
            <a:solidFill>
              <a:srgbClr val="00A087">
                <a:alpha val="0"/>
              </a:srgbClr>
            </a:solidFill>
            <a:prstDash val="solid"/>
          </a:ln>
        </p:spPr>
        <p:txBody>
          <a:bodyPr/>
          <a:lstStyle/>
          <a:p>
            <a:endParaRPr lang="en-GB"/>
          </a:p>
        </p:txBody>
      </p:sp>
      <p:sp>
        <p:nvSpPr>
          <p:cNvPr id="12" name="Text 9"/>
          <p:cNvSpPr/>
          <p:nvPr/>
        </p:nvSpPr>
        <p:spPr>
          <a:xfrm>
            <a:off x="7360920" y="2258568"/>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B</a:t>
            </a:r>
            <a:endParaRPr lang="en-US" sz="850" dirty="0"/>
          </a:p>
        </p:txBody>
      </p:sp>
      <p:sp>
        <p:nvSpPr>
          <p:cNvPr id="13" name="Text 10"/>
          <p:cNvSpPr/>
          <p:nvPr/>
        </p:nvSpPr>
        <p:spPr>
          <a:xfrm>
            <a:off x="7863840" y="2240280"/>
            <a:ext cx="2880360" cy="201168"/>
          </a:xfrm>
          <a:prstGeom prst="rect">
            <a:avLst/>
          </a:prstGeom>
          <a:noFill/>
          <a:ln/>
        </p:spPr>
        <p:txBody>
          <a:bodyPr wrap="square" lIns="0" tIns="0" rIns="0" bIns="0" rtlCol="0" anchor="ctr"/>
          <a:lstStyle/>
          <a:p>
            <a:pPr marL="0" indent="0">
              <a:buNone/>
            </a:pPr>
            <a:r>
              <a:rPr lang="en-US" sz="1150" dirty="0">
                <a:solidFill>
                  <a:srgbClr val="000000"/>
                </a:solidFill>
              </a:rPr>
              <a:t>Long-term endemic equilibrium</a:t>
            </a:r>
            <a:endParaRPr lang="en-US" sz="1150" dirty="0"/>
          </a:p>
        </p:txBody>
      </p:sp>
      <p:sp>
        <p:nvSpPr>
          <p:cNvPr id="14" name="Text 11"/>
          <p:cNvSpPr/>
          <p:nvPr/>
        </p:nvSpPr>
        <p:spPr>
          <a:xfrm>
            <a:off x="10927080" y="2240280"/>
            <a:ext cx="411480" cy="201168"/>
          </a:xfrm>
          <a:prstGeom prst="rect">
            <a:avLst/>
          </a:prstGeom>
          <a:noFill/>
          <a:ln/>
        </p:spPr>
        <p:txBody>
          <a:bodyPr wrap="square" lIns="0" tIns="0" rIns="0" bIns="0" rtlCol="0" anchor="ctr"/>
          <a:lstStyle/>
          <a:p>
            <a:pPr marL="0" indent="0" algn="r">
              <a:buNone/>
            </a:pPr>
            <a:r>
              <a:rPr lang="en-US" sz="1150" b="1" dirty="0">
                <a:solidFill>
                  <a:srgbClr val="000000"/>
                </a:solidFill>
              </a:rPr>
              <a:t>12</a:t>
            </a:r>
            <a:endParaRPr lang="en-US" sz="1150" dirty="0"/>
          </a:p>
        </p:txBody>
      </p:sp>
      <p:sp>
        <p:nvSpPr>
          <p:cNvPr id="15" name="Shape 12"/>
          <p:cNvSpPr/>
          <p:nvPr/>
        </p:nvSpPr>
        <p:spPr>
          <a:xfrm>
            <a:off x="7360920" y="2752344"/>
            <a:ext cx="384048" cy="256032"/>
          </a:xfrm>
          <a:prstGeom prst="roundRect">
            <a:avLst>
              <a:gd name="adj" fmla="val 25000"/>
            </a:avLst>
          </a:prstGeom>
          <a:solidFill>
            <a:srgbClr val="3C5488"/>
          </a:solidFill>
          <a:ln w="12700">
            <a:solidFill>
              <a:srgbClr val="3C5488">
                <a:alpha val="0"/>
              </a:srgbClr>
            </a:solidFill>
            <a:prstDash val="solid"/>
          </a:ln>
        </p:spPr>
        <p:txBody>
          <a:bodyPr/>
          <a:lstStyle/>
          <a:p>
            <a:endParaRPr lang="en-GB"/>
          </a:p>
        </p:txBody>
      </p:sp>
      <p:sp>
        <p:nvSpPr>
          <p:cNvPr id="16" name="Text 13"/>
          <p:cNvSpPr/>
          <p:nvPr/>
        </p:nvSpPr>
        <p:spPr>
          <a:xfrm>
            <a:off x="7360920" y="2788920"/>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C</a:t>
            </a:r>
            <a:endParaRPr lang="en-US" sz="850" dirty="0"/>
          </a:p>
        </p:txBody>
      </p:sp>
      <p:sp>
        <p:nvSpPr>
          <p:cNvPr id="17" name="Text 14"/>
          <p:cNvSpPr/>
          <p:nvPr/>
        </p:nvSpPr>
        <p:spPr>
          <a:xfrm>
            <a:off x="7863840" y="2770632"/>
            <a:ext cx="2880360" cy="201168"/>
          </a:xfrm>
          <a:prstGeom prst="rect">
            <a:avLst/>
          </a:prstGeom>
          <a:noFill/>
          <a:ln/>
        </p:spPr>
        <p:txBody>
          <a:bodyPr wrap="square" lIns="0" tIns="0" rIns="0" bIns="0" rtlCol="0" anchor="ctr"/>
          <a:lstStyle/>
          <a:p>
            <a:pPr marL="0" indent="0">
              <a:buNone/>
            </a:pPr>
            <a:r>
              <a:rPr lang="en-US" sz="1150" dirty="0">
                <a:solidFill>
                  <a:srgbClr val="000000"/>
                </a:solidFill>
              </a:rPr>
              <a:t>Episodic transmission</a:t>
            </a:r>
            <a:endParaRPr lang="en-US" sz="1150" dirty="0"/>
          </a:p>
        </p:txBody>
      </p:sp>
      <p:sp>
        <p:nvSpPr>
          <p:cNvPr id="18" name="Text 15"/>
          <p:cNvSpPr/>
          <p:nvPr/>
        </p:nvSpPr>
        <p:spPr>
          <a:xfrm>
            <a:off x="10927080" y="2770632"/>
            <a:ext cx="411480" cy="201168"/>
          </a:xfrm>
          <a:prstGeom prst="rect">
            <a:avLst/>
          </a:prstGeom>
          <a:noFill/>
          <a:ln/>
        </p:spPr>
        <p:txBody>
          <a:bodyPr wrap="square" lIns="0" tIns="0" rIns="0" bIns="0" rtlCol="0" anchor="ctr"/>
          <a:lstStyle/>
          <a:p>
            <a:pPr marL="0" indent="0" algn="r">
              <a:buNone/>
            </a:pPr>
            <a:r>
              <a:rPr lang="en-US" sz="1150" b="1" dirty="0">
                <a:solidFill>
                  <a:srgbClr val="000000"/>
                </a:solidFill>
              </a:rPr>
              <a:t>42</a:t>
            </a:r>
            <a:endParaRPr lang="en-US" sz="1150" dirty="0"/>
          </a:p>
        </p:txBody>
      </p:sp>
      <p:sp>
        <p:nvSpPr>
          <p:cNvPr id="19" name="Shape 16"/>
          <p:cNvSpPr/>
          <p:nvPr/>
        </p:nvSpPr>
        <p:spPr>
          <a:xfrm>
            <a:off x="7360920" y="3282696"/>
            <a:ext cx="384048" cy="256032"/>
          </a:xfrm>
          <a:prstGeom prst="roundRect">
            <a:avLst>
              <a:gd name="adj" fmla="val 25000"/>
            </a:avLst>
          </a:prstGeom>
          <a:solidFill>
            <a:srgbClr val="7A5195"/>
          </a:solidFill>
          <a:ln w="12700">
            <a:solidFill>
              <a:srgbClr val="7A5195">
                <a:alpha val="0"/>
              </a:srgbClr>
            </a:solidFill>
            <a:prstDash val="solid"/>
          </a:ln>
        </p:spPr>
        <p:txBody>
          <a:bodyPr/>
          <a:lstStyle/>
          <a:p>
            <a:endParaRPr lang="en-GB"/>
          </a:p>
        </p:txBody>
      </p:sp>
      <p:sp>
        <p:nvSpPr>
          <p:cNvPr id="20" name="Text 17"/>
          <p:cNvSpPr/>
          <p:nvPr/>
        </p:nvSpPr>
        <p:spPr>
          <a:xfrm>
            <a:off x="7360920" y="3319272"/>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D</a:t>
            </a:r>
            <a:endParaRPr lang="en-US" sz="850" dirty="0"/>
          </a:p>
        </p:txBody>
      </p:sp>
      <p:sp>
        <p:nvSpPr>
          <p:cNvPr id="21" name="Text 18"/>
          <p:cNvSpPr/>
          <p:nvPr/>
        </p:nvSpPr>
        <p:spPr>
          <a:xfrm>
            <a:off x="7863840" y="3300984"/>
            <a:ext cx="2880360" cy="201168"/>
          </a:xfrm>
          <a:prstGeom prst="rect">
            <a:avLst/>
          </a:prstGeom>
          <a:noFill/>
          <a:ln/>
        </p:spPr>
        <p:txBody>
          <a:bodyPr wrap="square" lIns="0" tIns="0" rIns="0" bIns="0" rtlCol="0" anchor="ctr"/>
          <a:lstStyle/>
          <a:p>
            <a:pPr marL="0" indent="0">
              <a:buNone/>
            </a:pPr>
            <a:r>
              <a:rPr lang="en-US" sz="1150" dirty="0">
                <a:solidFill>
                  <a:srgbClr val="000000"/>
                </a:solidFill>
              </a:rPr>
              <a:t>Conditional epidemic potential</a:t>
            </a:r>
            <a:endParaRPr lang="en-US" sz="1150" dirty="0"/>
          </a:p>
        </p:txBody>
      </p:sp>
      <p:sp>
        <p:nvSpPr>
          <p:cNvPr id="22" name="Text 19"/>
          <p:cNvSpPr/>
          <p:nvPr/>
        </p:nvSpPr>
        <p:spPr>
          <a:xfrm>
            <a:off x="10927080" y="3300984"/>
            <a:ext cx="411480" cy="201168"/>
          </a:xfrm>
          <a:prstGeom prst="rect">
            <a:avLst/>
          </a:prstGeom>
          <a:noFill/>
          <a:ln/>
        </p:spPr>
        <p:txBody>
          <a:bodyPr wrap="square" lIns="0" tIns="0" rIns="0" bIns="0" rtlCol="0" anchor="ctr"/>
          <a:lstStyle/>
          <a:p>
            <a:pPr marL="0" indent="0" algn="r">
              <a:buNone/>
            </a:pPr>
            <a:r>
              <a:rPr lang="en-US" sz="1150" b="1" dirty="0">
                <a:solidFill>
                  <a:srgbClr val="000000"/>
                </a:solidFill>
              </a:rPr>
              <a:t>10</a:t>
            </a:r>
            <a:endParaRPr lang="en-US" sz="1150" dirty="0"/>
          </a:p>
        </p:txBody>
      </p:sp>
      <p:sp>
        <p:nvSpPr>
          <p:cNvPr id="25" name="Shape 22"/>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Common infection model: separate past exposure from current risk</a:t>
            </a:r>
            <a:endParaRPr lang="en-US" sz="25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1" y="1444752"/>
            <a:ext cx="3755730" cy="667909"/>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55081" y="1509433"/>
            <a:ext cx="3166946" cy="603228"/>
          </a:xfrm>
          <a:prstGeom prst="rect">
            <a:avLst/>
          </a:prstGeom>
        </p:spPr>
      </p:pic>
      <p:sp>
        <p:nvSpPr>
          <p:cNvPr id="7" name="Shape 3"/>
          <p:cNvSpPr/>
          <p:nvPr/>
        </p:nvSpPr>
        <p:spPr>
          <a:xfrm>
            <a:off x="5806440" y="1645920"/>
            <a:ext cx="0" cy="2971800"/>
          </a:xfrm>
          <a:prstGeom prst="line">
            <a:avLst/>
          </a:prstGeom>
          <a:noFill/>
          <a:ln w="12700">
            <a:solidFill>
              <a:srgbClr val="D9D9D9"/>
            </a:solidFill>
            <a:prstDash val="solid"/>
          </a:ln>
        </p:spPr>
        <p:txBody>
          <a:bodyPr/>
          <a:lstStyle/>
          <a:p>
            <a:endParaRPr lang="en-GB"/>
          </a:p>
        </p:txBody>
      </p:sp>
      <p:sp>
        <p:nvSpPr>
          <p:cNvPr id="8" name="Text 4"/>
          <p:cNvSpPr/>
          <p:nvPr/>
        </p:nvSpPr>
        <p:spPr>
          <a:xfrm>
            <a:off x="1051560" y="2560320"/>
            <a:ext cx="4206240" cy="274320"/>
          </a:xfrm>
          <a:prstGeom prst="rect">
            <a:avLst/>
          </a:prstGeom>
          <a:noFill/>
          <a:ln/>
        </p:spPr>
        <p:txBody>
          <a:bodyPr wrap="square" lIns="0" tIns="0" rIns="0" bIns="0" rtlCol="0" anchor="ctr"/>
          <a:lstStyle/>
          <a:p>
            <a:pPr marL="0" indent="0">
              <a:buNone/>
            </a:pPr>
            <a:r>
              <a:rPr lang="en-US" sz="1400" b="1" dirty="0">
                <a:solidFill>
                  <a:srgbClr val="1F2A44"/>
                </a:solidFill>
              </a:rPr>
              <a:t>Historical immunity</a:t>
            </a:r>
            <a:endParaRPr lang="en-US" sz="1400" dirty="0"/>
          </a:p>
        </p:txBody>
      </p:sp>
      <p:sp>
        <p:nvSpPr>
          <p:cNvPr id="9" name="Text 5"/>
          <p:cNvSpPr/>
          <p:nvPr/>
        </p:nvSpPr>
        <p:spPr>
          <a:xfrm>
            <a:off x="1051560" y="2907792"/>
            <a:ext cx="4389120" cy="114300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E is an effective historical exposure duration.</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It determines how much prior outbreaks have depleted susceptible population </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E differs by archetype</a:t>
            </a:r>
            <a:endParaRPr lang="en-US" sz="1200" dirty="0"/>
          </a:p>
        </p:txBody>
      </p:sp>
      <p:sp>
        <p:nvSpPr>
          <p:cNvPr id="10" name="Text 6"/>
          <p:cNvSpPr/>
          <p:nvPr/>
        </p:nvSpPr>
        <p:spPr>
          <a:xfrm>
            <a:off x="6400800" y="2560320"/>
            <a:ext cx="4023360" cy="274320"/>
          </a:xfrm>
          <a:prstGeom prst="rect">
            <a:avLst/>
          </a:prstGeom>
          <a:noFill/>
          <a:ln/>
        </p:spPr>
        <p:txBody>
          <a:bodyPr wrap="square" lIns="0" tIns="0" rIns="0" bIns="0" rtlCol="0" anchor="ctr"/>
          <a:lstStyle/>
          <a:p>
            <a:pPr marL="0" indent="0">
              <a:buNone/>
            </a:pPr>
            <a:r>
              <a:rPr lang="en-US" sz="1400" b="1" dirty="0">
                <a:solidFill>
                  <a:srgbClr val="1F2A44"/>
                </a:solidFill>
              </a:rPr>
              <a:t>Current burden year</a:t>
            </a:r>
            <a:endParaRPr lang="en-US" sz="1400" dirty="0"/>
          </a:p>
        </p:txBody>
      </p:sp>
      <p:sp>
        <p:nvSpPr>
          <p:cNvPr id="11" name="Text 7"/>
          <p:cNvSpPr/>
          <p:nvPr/>
        </p:nvSpPr>
        <p:spPr>
          <a:xfrm>
            <a:off x="6400800" y="2907792"/>
            <a:ext cx="4663440" cy="1325880"/>
          </a:xfrm>
          <a:prstGeom prst="rect">
            <a:avLst/>
          </a:prstGeom>
          <a:noFill/>
          <a:ln/>
        </p:spPr>
        <p:txBody>
          <a:bodyPr wrap="square" lIns="635" tIns="635" rIns="635" bIns="635" rtlCol="0" anchor="t">
            <a:normAutofit/>
          </a:bodyPr>
          <a:lstStyle/>
          <a:p>
            <a:r>
              <a:rPr lang="en-US" sz="1200" dirty="0">
                <a:solidFill>
                  <a:srgbClr val="000000"/>
                </a:solidFill>
                <a:latin typeface="Arial" pitchFamily="34" charset="0"/>
                <a:ea typeface="Arial" pitchFamily="34" charset="-122"/>
                <a:cs typeface="Arial" pitchFamily="34" charset="-120"/>
              </a:rPr>
              <a:t>q is the infection probability during the burden period.</a:t>
            </a:r>
            <a:endParaRPr lang="en-US" sz="1200" dirty="0"/>
          </a:p>
          <a:p>
            <a:r>
              <a:rPr lang="en-US" sz="1200" dirty="0">
                <a:solidFill>
                  <a:srgbClr val="000000"/>
                </a:solidFill>
                <a:latin typeface="Arial" pitchFamily="34" charset="0"/>
                <a:ea typeface="Arial" pitchFamily="34" charset="-122"/>
                <a:cs typeface="Arial" pitchFamily="34" charset="-120"/>
              </a:rPr>
              <a:t>For continuous annual risk, q = 1 − exp(−λ).</a:t>
            </a:r>
            <a:endParaRPr lang="en-US" sz="1200" dirty="0"/>
          </a:p>
          <a:p>
            <a:r>
              <a:rPr lang="en-US" sz="1200" dirty="0">
                <a:solidFill>
                  <a:srgbClr val="000000"/>
                </a:solidFill>
                <a:latin typeface="Arial" pitchFamily="34" charset="0"/>
                <a:ea typeface="Arial" pitchFamily="34" charset="-122"/>
                <a:cs typeface="Arial" pitchFamily="34" charset="-120"/>
              </a:rPr>
              <a:t>For episodic settings, q is annualised or conditional on an outbreak.</a:t>
            </a:r>
            <a:endParaRPr lang="en-US" sz="1200" dirty="0"/>
          </a:p>
        </p:txBody>
      </p:sp>
      <p:sp>
        <p:nvSpPr>
          <p:cNvPr id="14" name="Shape 10"/>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A. Finite circulation since introduction</a:t>
            </a:r>
            <a:endParaRPr lang="en-US" sz="2500" dirty="0"/>
          </a:p>
        </p:txBody>
      </p:sp>
      <p:sp>
        <p:nvSpPr>
          <p:cNvPr id="4" name="Shape 2"/>
          <p:cNvSpPr/>
          <p:nvPr/>
        </p:nvSpPr>
        <p:spPr>
          <a:xfrm>
            <a:off x="777240" y="1051560"/>
            <a:ext cx="384048" cy="256032"/>
          </a:xfrm>
          <a:prstGeom prst="roundRect">
            <a:avLst>
              <a:gd name="adj" fmla="val 25000"/>
            </a:avLst>
          </a:prstGeom>
          <a:solidFill>
            <a:srgbClr val="E64B35"/>
          </a:solidFill>
          <a:ln w="12700">
            <a:solidFill>
              <a:srgbClr val="E64B35">
                <a:alpha val="0"/>
              </a:srgbClr>
            </a:solidFill>
            <a:prstDash val="solid"/>
          </a:ln>
        </p:spPr>
        <p:txBody>
          <a:bodyPr/>
          <a:lstStyle/>
          <a:p>
            <a:endParaRPr lang="en-GB"/>
          </a:p>
        </p:txBody>
      </p:sp>
      <p:sp>
        <p:nvSpPr>
          <p:cNvPr id="5" name="Text 3"/>
          <p:cNvSpPr/>
          <p:nvPr/>
        </p:nvSpPr>
        <p:spPr>
          <a:xfrm>
            <a:off x="777240" y="1088136"/>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A</a:t>
            </a:r>
            <a:endParaRPr lang="en-US" sz="850" dirty="0"/>
          </a:p>
        </p:txBody>
      </p:sp>
      <p:sp>
        <p:nvSpPr>
          <p:cNvPr id="6" name="Text 4"/>
          <p:cNvSpPr/>
          <p:nvPr/>
        </p:nvSpPr>
        <p:spPr>
          <a:xfrm>
            <a:off x="1298448" y="1060704"/>
            <a:ext cx="7498080" cy="274320"/>
          </a:xfrm>
          <a:prstGeom prst="rect">
            <a:avLst/>
          </a:prstGeom>
          <a:noFill/>
          <a:ln/>
        </p:spPr>
        <p:txBody>
          <a:bodyPr wrap="square" lIns="0" tIns="0" rIns="0" bIns="0" rtlCol="0" anchor="ctr"/>
          <a:lstStyle/>
          <a:p>
            <a:pPr marL="0" indent="0">
              <a:buNone/>
            </a:pPr>
            <a:r>
              <a:rPr lang="en-US" sz="1300" dirty="0">
                <a:solidFill>
                  <a:srgbClr val="666666"/>
                </a:solidFill>
              </a:rPr>
              <a:t>Transmission history is capped by time since introduction.</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1645920"/>
            <a:ext cx="2926080" cy="594360"/>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4840" y="1618488"/>
            <a:ext cx="3234690" cy="640080"/>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840" y="2514600"/>
            <a:ext cx="5305750" cy="546180"/>
          </a:xfrm>
          <a:prstGeom prst="rect">
            <a:avLst/>
          </a:prstGeom>
        </p:spPr>
      </p:pic>
      <p:sp>
        <p:nvSpPr>
          <p:cNvPr id="10" name="Text 5"/>
          <p:cNvSpPr/>
          <p:nvPr/>
        </p:nvSpPr>
        <p:spPr>
          <a:xfrm>
            <a:off x="1005840" y="3657600"/>
            <a:ext cx="5212080" cy="16459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T_c is years since sustained transmission began in country c.</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Individuals younger than T_c accumulate exposure according to age.</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Individuals older than T_c are capped at T_c years of exposure</a:t>
            </a:r>
          </a:p>
          <a:p>
            <a:pPr marL="742950" lvl="1"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Different from assigning a lifetime of exposure to older adults as in endemic setting</a:t>
            </a:r>
            <a:endParaRPr lang="en-US" sz="1250" dirty="0"/>
          </a:p>
        </p:txBody>
      </p:sp>
      <p:sp>
        <p:nvSpPr>
          <p:cNvPr id="13" name="Shape 8"/>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B. Long-term endemic equilibrium</a:t>
            </a:r>
            <a:endParaRPr lang="en-US" sz="2500" dirty="0"/>
          </a:p>
        </p:txBody>
      </p:sp>
      <p:sp>
        <p:nvSpPr>
          <p:cNvPr id="4" name="Shape 2"/>
          <p:cNvSpPr/>
          <p:nvPr/>
        </p:nvSpPr>
        <p:spPr>
          <a:xfrm>
            <a:off x="777240" y="1051560"/>
            <a:ext cx="384048" cy="256032"/>
          </a:xfrm>
          <a:prstGeom prst="roundRect">
            <a:avLst>
              <a:gd name="adj" fmla="val 25000"/>
            </a:avLst>
          </a:prstGeom>
          <a:solidFill>
            <a:srgbClr val="00A087"/>
          </a:solidFill>
          <a:ln w="12700">
            <a:solidFill>
              <a:srgbClr val="00A087">
                <a:alpha val="0"/>
              </a:srgbClr>
            </a:solidFill>
            <a:prstDash val="solid"/>
          </a:ln>
        </p:spPr>
        <p:txBody>
          <a:bodyPr/>
          <a:lstStyle/>
          <a:p>
            <a:endParaRPr lang="en-GB"/>
          </a:p>
        </p:txBody>
      </p:sp>
      <p:sp>
        <p:nvSpPr>
          <p:cNvPr id="5" name="Text 3"/>
          <p:cNvSpPr/>
          <p:nvPr/>
        </p:nvSpPr>
        <p:spPr>
          <a:xfrm>
            <a:off x="777240" y="1088136"/>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B</a:t>
            </a:r>
            <a:endParaRPr lang="en-US" sz="850" dirty="0"/>
          </a:p>
        </p:txBody>
      </p:sp>
      <p:sp>
        <p:nvSpPr>
          <p:cNvPr id="6" name="Text 4"/>
          <p:cNvSpPr/>
          <p:nvPr/>
        </p:nvSpPr>
        <p:spPr>
          <a:xfrm>
            <a:off x="1298448" y="1060704"/>
            <a:ext cx="9418320" cy="274320"/>
          </a:xfrm>
          <a:prstGeom prst="rect">
            <a:avLst/>
          </a:prstGeom>
          <a:noFill/>
          <a:ln/>
        </p:spPr>
        <p:txBody>
          <a:bodyPr wrap="square" lIns="0" tIns="0" rIns="0" bIns="0" rtlCol="0" anchor="ctr"/>
          <a:lstStyle/>
          <a:p>
            <a:pPr marL="0" indent="0">
              <a:buNone/>
            </a:pPr>
            <a:r>
              <a:rPr lang="en-US" sz="1300" dirty="0">
                <a:solidFill>
                  <a:srgbClr val="666666"/>
                </a:solidFill>
              </a:rPr>
              <a:t>This retains the simple catalytic assumption of continuous exposure from birth.</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1828800"/>
            <a:ext cx="1636999" cy="548640"/>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40480" y="1783080"/>
            <a:ext cx="3207434" cy="548640"/>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840" y="2743200"/>
            <a:ext cx="6766560" cy="640080"/>
          </a:xfrm>
          <a:prstGeom prst="rect">
            <a:avLst/>
          </a:prstGeom>
        </p:spPr>
      </p:pic>
      <p:sp>
        <p:nvSpPr>
          <p:cNvPr id="10" name="Text 5"/>
          <p:cNvSpPr/>
          <p:nvPr/>
        </p:nvSpPr>
        <p:spPr>
          <a:xfrm>
            <a:off x="1051560" y="3840480"/>
            <a:ext cx="5486400" cy="12344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Historical exposure grows linearly with age.</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Older cohorts have progressively lower susceptibility.</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Appropriate for countries where transmission is long established and repeatedly observed over time.</a:t>
            </a:r>
            <a:endParaRPr lang="en-US" sz="1250" dirty="0"/>
          </a:p>
        </p:txBody>
      </p:sp>
      <p:sp>
        <p:nvSpPr>
          <p:cNvPr id="13" name="Shape 8"/>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C. Episodic transmission with inter-epidemic periods</a:t>
            </a:r>
            <a:endParaRPr lang="en-US" sz="2500" dirty="0"/>
          </a:p>
        </p:txBody>
      </p:sp>
      <p:sp>
        <p:nvSpPr>
          <p:cNvPr id="4" name="Shape 2"/>
          <p:cNvSpPr/>
          <p:nvPr/>
        </p:nvSpPr>
        <p:spPr>
          <a:xfrm>
            <a:off x="777240" y="1051560"/>
            <a:ext cx="384048" cy="256032"/>
          </a:xfrm>
          <a:prstGeom prst="roundRect">
            <a:avLst>
              <a:gd name="adj" fmla="val 25000"/>
            </a:avLst>
          </a:prstGeom>
          <a:solidFill>
            <a:srgbClr val="3C5488"/>
          </a:solidFill>
          <a:ln w="12700">
            <a:solidFill>
              <a:srgbClr val="3C5488">
                <a:alpha val="0"/>
              </a:srgbClr>
            </a:solidFill>
            <a:prstDash val="solid"/>
          </a:ln>
        </p:spPr>
        <p:txBody>
          <a:bodyPr/>
          <a:lstStyle/>
          <a:p>
            <a:endParaRPr lang="en-GB"/>
          </a:p>
        </p:txBody>
      </p:sp>
      <p:sp>
        <p:nvSpPr>
          <p:cNvPr id="5" name="Text 3"/>
          <p:cNvSpPr/>
          <p:nvPr/>
        </p:nvSpPr>
        <p:spPr>
          <a:xfrm>
            <a:off x="777240" y="1088136"/>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C</a:t>
            </a:r>
            <a:endParaRPr lang="en-US" sz="850" dirty="0"/>
          </a:p>
        </p:txBody>
      </p:sp>
      <p:sp>
        <p:nvSpPr>
          <p:cNvPr id="6" name="Text 4"/>
          <p:cNvSpPr/>
          <p:nvPr/>
        </p:nvSpPr>
        <p:spPr>
          <a:xfrm>
            <a:off x="1298448" y="1060704"/>
            <a:ext cx="9692640" cy="274320"/>
          </a:xfrm>
          <a:prstGeom prst="rect">
            <a:avLst/>
          </a:prstGeom>
          <a:noFill/>
          <a:ln/>
        </p:spPr>
        <p:txBody>
          <a:bodyPr wrap="square" lIns="0" tIns="0" rIns="0" bIns="0" rtlCol="0" anchor="ctr"/>
          <a:lstStyle/>
          <a:p>
            <a:pPr marL="0" indent="0">
              <a:buNone/>
            </a:pPr>
            <a:r>
              <a:rPr lang="en-US" sz="1300" dirty="0">
                <a:solidFill>
                  <a:srgbClr val="666666"/>
                </a:solidFill>
              </a:rPr>
              <a:t>Historical exposure accumulates through discrete epidemic opportunities, not continuously every year.</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 y="1645920"/>
            <a:ext cx="2286000" cy="457200"/>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83280" y="1600199"/>
            <a:ext cx="2194112" cy="516091"/>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29400" y="1645920"/>
            <a:ext cx="1979342" cy="465565"/>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2961" y="2606040"/>
            <a:ext cx="5087186" cy="516091"/>
          </a:xfrm>
          <a:prstGeom prst="rect">
            <a:avLst/>
          </a:prstGeom>
        </p:spPr>
      </p:pic>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29400" y="2633472"/>
            <a:ext cx="4010950" cy="630936"/>
          </a:xfrm>
          <a:prstGeom prst="rect">
            <a:avLst/>
          </a:prstGeom>
        </p:spPr>
      </p:pic>
      <p:sp>
        <p:nvSpPr>
          <p:cNvPr id="12" name="Text 5"/>
          <p:cNvSpPr/>
          <p:nvPr/>
        </p:nvSpPr>
        <p:spPr>
          <a:xfrm>
            <a:off x="822960" y="3840480"/>
            <a:ext cx="6400800" cy="150876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τ_c is the inter-epidemic interval; in PSA, τ_c is sampled across 7–20 years.</a:t>
            </a:r>
            <a:endParaRPr lang="en-US" sz="1250" dirty="0"/>
          </a:p>
          <a:p>
            <a:pPr marL="171450" indent="-1714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n counts how many outbreak opportunities an age cohort has experienced.</a:t>
            </a:r>
            <a:endParaRPr lang="en-US" sz="1250" dirty="0"/>
          </a:p>
          <a:p>
            <a:pPr marL="171450" indent="-1714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h_out converts a long-term annual FOI into one outbreak-level cumulative hazard.</a:t>
            </a:r>
            <a:endParaRPr lang="en-US" sz="1250" dirty="0"/>
          </a:p>
          <a:p>
            <a:pPr marL="171450" indent="-1714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The annualised burden averages a larger outbreak-year risk over epidemic and non-epidemic years.</a:t>
            </a:r>
            <a:endParaRPr lang="en-US" sz="1250" dirty="0"/>
          </a:p>
        </p:txBody>
      </p:sp>
      <p:sp>
        <p:nvSpPr>
          <p:cNvPr id="15" name="Shape 8"/>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D. Conditional epidemic potential</a:t>
            </a:r>
            <a:endParaRPr lang="en-US" sz="2500" dirty="0"/>
          </a:p>
        </p:txBody>
      </p:sp>
      <p:sp>
        <p:nvSpPr>
          <p:cNvPr id="4" name="Shape 2"/>
          <p:cNvSpPr/>
          <p:nvPr/>
        </p:nvSpPr>
        <p:spPr>
          <a:xfrm>
            <a:off x="777240" y="1051560"/>
            <a:ext cx="384048" cy="256032"/>
          </a:xfrm>
          <a:prstGeom prst="roundRect">
            <a:avLst>
              <a:gd name="adj" fmla="val 25000"/>
            </a:avLst>
          </a:prstGeom>
          <a:solidFill>
            <a:srgbClr val="7A5195"/>
          </a:solidFill>
          <a:ln w="12700">
            <a:solidFill>
              <a:srgbClr val="7A5195">
                <a:alpha val="0"/>
              </a:srgbClr>
            </a:solidFill>
            <a:prstDash val="solid"/>
          </a:ln>
        </p:spPr>
        <p:txBody>
          <a:bodyPr/>
          <a:lstStyle/>
          <a:p>
            <a:endParaRPr lang="en-GB"/>
          </a:p>
        </p:txBody>
      </p:sp>
      <p:sp>
        <p:nvSpPr>
          <p:cNvPr id="5" name="Text 3"/>
          <p:cNvSpPr/>
          <p:nvPr/>
        </p:nvSpPr>
        <p:spPr>
          <a:xfrm>
            <a:off x="777240" y="1088136"/>
            <a:ext cx="384048" cy="146304"/>
          </a:xfrm>
          <a:prstGeom prst="rect">
            <a:avLst/>
          </a:prstGeom>
          <a:noFill/>
          <a:ln/>
        </p:spPr>
        <p:txBody>
          <a:bodyPr wrap="square" lIns="0" tIns="0" rIns="0" bIns="0" rtlCol="0" anchor="ctr"/>
          <a:lstStyle/>
          <a:p>
            <a:pPr marL="0" indent="0" algn="ctr">
              <a:buNone/>
            </a:pPr>
            <a:r>
              <a:rPr lang="en-US" sz="850" b="1" dirty="0">
                <a:solidFill>
                  <a:srgbClr val="FFFFFF"/>
                </a:solidFill>
              </a:rPr>
              <a:t>D</a:t>
            </a:r>
            <a:endParaRPr lang="en-US" sz="850" dirty="0"/>
          </a:p>
        </p:txBody>
      </p:sp>
      <p:sp>
        <p:nvSpPr>
          <p:cNvPr id="6" name="Text 4"/>
          <p:cNvSpPr/>
          <p:nvPr/>
        </p:nvSpPr>
        <p:spPr>
          <a:xfrm>
            <a:off x="1298448" y="1060704"/>
            <a:ext cx="9875520" cy="274320"/>
          </a:xfrm>
          <a:prstGeom prst="rect">
            <a:avLst/>
          </a:prstGeom>
          <a:noFill/>
          <a:ln/>
        </p:spPr>
        <p:txBody>
          <a:bodyPr wrap="square" lIns="0" tIns="0" rIns="0" bIns="0" rtlCol="0" anchor="ctr"/>
          <a:lstStyle/>
          <a:p>
            <a:pPr marL="0" indent="0">
              <a:buNone/>
            </a:pPr>
            <a:r>
              <a:rPr lang="en-US" sz="1300" dirty="0">
                <a:solidFill>
                  <a:srgbClr val="666666"/>
                </a:solidFill>
              </a:rPr>
              <a:t>D estimates burden conditional on epidemic transmission occurring; it is not an unconditional annual burden.</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1691640"/>
            <a:ext cx="3962401" cy="468284"/>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400" y="2606040"/>
            <a:ext cx="4638907" cy="477535"/>
          </a:xfrm>
          <a:prstGeom prst="rect">
            <a:avLst/>
          </a:prstGeom>
        </p:spPr>
      </p:pic>
      <p:sp>
        <p:nvSpPr>
          <p:cNvPr id="10" name="Text 5"/>
          <p:cNvSpPr/>
          <p:nvPr/>
        </p:nvSpPr>
        <p:spPr>
          <a:xfrm>
            <a:off x="7315200" y="1600200"/>
            <a:ext cx="4023360" cy="192024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Base case assumes no prior sustained local transmission</a:t>
            </a:r>
          </a:p>
          <a:p>
            <a:pPr marL="628650" lvl="1"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historical susceptibility is 1 for all ages.</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If prior local transmission is later documented, E(D) can be replaced by known historical exposure.</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Because P(outbreak) is not estimated here, D must be labelled as conditional epidemic potential.</a:t>
            </a:r>
            <a:endParaRPr lang="en-US" sz="1200" dirty="0"/>
          </a:p>
        </p:txBody>
      </p:sp>
      <p:sp>
        <p:nvSpPr>
          <p:cNvPr id="13" name="Shape 8"/>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09728"/>
            <a:ext cx="11185855" cy="137160"/>
          </a:xfrm>
          <a:prstGeom prst="rect">
            <a:avLst/>
          </a:prstGeom>
          <a:noFill/>
          <a:ln/>
        </p:spPr>
        <p:txBody>
          <a:bodyPr wrap="square" lIns="0" tIns="0" rIns="0" bIns="0" rtlCol="0" anchor="ctr"/>
          <a:lstStyle/>
          <a:p>
            <a:pPr marL="0" indent="0">
              <a:buNone/>
            </a:pPr>
            <a:r>
              <a:rPr lang="en-US" sz="750" dirty="0">
                <a:solidFill>
                  <a:srgbClr val="666666"/>
                </a:solidFill>
              </a:rPr>
              <a:t>INFECTION RESULTS</a:t>
            </a:r>
            <a:endParaRPr lang="en-US" sz="750" dirty="0"/>
          </a:p>
        </p:txBody>
      </p:sp>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Archetype-specific infection incidence</a:t>
            </a:r>
            <a:endParaRPr lang="en-US" sz="2500" dirty="0"/>
          </a:p>
        </p:txBody>
      </p:sp>
      <p:pic>
        <p:nvPicPr>
          <p:cNvPr id="5" name="Image 0" descr="/mnt/data/pptx_unzip/ppt/media/image8.png"/>
          <p:cNvPicPr>
            <a:picLocks noChangeAspect="1"/>
          </p:cNvPicPr>
          <p:nvPr/>
        </p:nvPicPr>
        <p:blipFill>
          <a:blip r:embed="rId3"/>
          <a:stretch>
            <a:fillRect/>
          </a:stretch>
        </p:blipFill>
        <p:spPr>
          <a:xfrm>
            <a:off x="118109" y="1106423"/>
            <a:ext cx="7620001" cy="5465165"/>
          </a:xfrm>
          <a:prstGeom prst="rect">
            <a:avLst/>
          </a:prstGeom>
        </p:spPr>
      </p:pic>
      <p:sp>
        <p:nvSpPr>
          <p:cNvPr id="6" name="Text 3"/>
          <p:cNvSpPr/>
          <p:nvPr/>
        </p:nvSpPr>
        <p:spPr>
          <a:xfrm>
            <a:off x="6675120" y="1417320"/>
            <a:ext cx="4480560" cy="19202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B declines most strongly with age because exposure accumulates continuously from birth.</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A has flatter older-age incidence because exposure is capped by introduction history.</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C depends on inter-epidemic timing and event hazard concentration.</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D should be interpreted as potential burden if transmission occurs, not expected annual incidence.</a:t>
            </a:r>
            <a:endParaRPr lang="en-US" sz="1250" dirty="0"/>
          </a:p>
        </p:txBody>
      </p:sp>
      <p:sp>
        <p:nvSpPr>
          <p:cNvPr id="9" name="Shape 6"/>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400" y="2011680"/>
            <a:ext cx="10424160" cy="548640"/>
          </a:xfrm>
          <a:prstGeom prst="rect">
            <a:avLst/>
          </a:prstGeom>
          <a:noFill/>
          <a:ln/>
        </p:spPr>
        <p:txBody>
          <a:bodyPr wrap="square" lIns="0" tIns="0" rIns="0" bIns="0" rtlCol="0" anchor="ctr"/>
          <a:lstStyle/>
          <a:p>
            <a:pPr marL="0" indent="0" algn="ctr">
              <a:buNone/>
            </a:pPr>
            <a:r>
              <a:rPr lang="en-US" sz="3000" b="1" dirty="0">
                <a:solidFill>
                  <a:srgbClr val="000000"/>
                </a:solidFill>
              </a:rPr>
              <a:t>Comorbidity-stratified burden model</a:t>
            </a:r>
            <a:endParaRPr lang="en-US" sz="3000" dirty="0"/>
          </a:p>
        </p:txBody>
      </p:sp>
      <p:sp>
        <p:nvSpPr>
          <p:cNvPr id="5" name="Shape 3"/>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Estimating hospitalisation risk by age and comorbidity</a:t>
            </a:r>
            <a:endParaRPr lang="en-US" sz="2500" dirty="0"/>
          </a:p>
        </p:txBody>
      </p:sp>
      <p:pic>
        <p:nvPicPr>
          <p:cNvPr id="4" name="Image 0" descr="/mnt/data/pptx_unzip/ppt/media/image9.png"/>
          <p:cNvPicPr>
            <a:picLocks noChangeAspect="1"/>
          </p:cNvPicPr>
          <p:nvPr/>
        </p:nvPicPr>
        <p:blipFill>
          <a:blip r:embed="rId3"/>
          <a:stretch>
            <a:fillRect/>
          </a:stretch>
        </p:blipFill>
        <p:spPr>
          <a:xfrm>
            <a:off x="723307" y="1051560"/>
            <a:ext cx="5594266" cy="4663440"/>
          </a:xfrm>
          <a:prstGeom prst="rect">
            <a:avLst/>
          </a:prstGeom>
        </p:spPr>
      </p:pic>
      <p:sp>
        <p:nvSpPr>
          <p:cNvPr id="5" name="Text 2"/>
          <p:cNvSpPr/>
          <p:nvPr/>
        </p:nvSpPr>
        <p:spPr>
          <a:xfrm>
            <a:off x="6720840" y="1417320"/>
            <a:ext cx="4526280" cy="173736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Data: confirmed chikungunya surveillance records from Brazil, 2017–2024.</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Outcome: hospitalisation among confirmed cases.</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Predictors: age, sex, and comorbidity-count group.</a:t>
            </a:r>
            <a:endParaRPr lang="en-US" sz="1250" dirty="0"/>
          </a:p>
          <a:p>
            <a:pPr marL="285750" indent="-285750">
              <a:buFont typeface="Arial" panose="020B0604020202020204" pitchFamily="34" charset="0"/>
              <a:buChar char="•"/>
            </a:pPr>
            <a:r>
              <a:rPr lang="en-US" sz="1250" dirty="0">
                <a:solidFill>
                  <a:srgbClr val="000000"/>
                </a:solidFill>
                <a:latin typeface="Arial" pitchFamily="34" charset="0"/>
                <a:ea typeface="Arial" pitchFamily="34" charset="-122"/>
                <a:cs typeface="Arial" pitchFamily="34" charset="-120"/>
              </a:rPr>
              <a:t>Model: flexible age-specific risk with no-comorbidity as the reference group.</a:t>
            </a:r>
            <a:endParaRPr lang="en-US" sz="1250" dirty="0"/>
          </a:p>
        </p:txBody>
      </p:sp>
      <p:sp>
        <p:nvSpPr>
          <p:cNvPr id="8" name="Shape 5"/>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Standardised hospitalisation relative risks</a:t>
            </a:r>
            <a:endParaRPr lang="en-US" sz="2500" dirty="0"/>
          </a:p>
        </p:txBody>
      </p:sp>
      <p:pic>
        <p:nvPicPr>
          <p:cNvPr id="4" name="Image 0" descr="/mnt/data/pptx_unzip/ppt/media/image10.png"/>
          <p:cNvPicPr>
            <a:picLocks noChangeAspect="1"/>
          </p:cNvPicPr>
          <p:nvPr/>
        </p:nvPicPr>
        <p:blipFill>
          <a:blip r:embed="rId3"/>
          <a:stretch>
            <a:fillRect/>
          </a:stretch>
        </p:blipFill>
        <p:spPr>
          <a:xfrm>
            <a:off x="1025004" y="1143000"/>
            <a:ext cx="5265192" cy="4389120"/>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6601" y="1508760"/>
            <a:ext cx="1745166" cy="685800"/>
          </a:xfrm>
          <a:prstGeom prst="rect">
            <a:avLst/>
          </a:prstGeom>
        </p:spPr>
      </p:pic>
      <p:sp>
        <p:nvSpPr>
          <p:cNvPr id="6" name="Text 2"/>
          <p:cNvSpPr/>
          <p:nvPr/>
        </p:nvSpPr>
        <p:spPr>
          <a:xfrm>
            <a:off x="6903720" y="2514600"/>
            <a:ext cx="4206240" cy="16002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20" dirty="0">
                <a:solidFill>
                  <a:srgbClr val="000000"/>
                </a:solidFill>
                <a:latin typeface="Arial" pitchFamily="34" charset="0"/>
                <a:ea typeface="Arial" pitchFamily="34" charset="-122"/>
                <a:cs typeface="Arial" pitchFamily="34" charset="-120"/>
              </a:rPr>
              <a:t>Predicted hospitalisation risk is averaged across female and male patients within each age–comorbidity stratum.</a:t>
            </a:r>
            <a:endParaRPr lang="en-US" sz="1220" dirty="0"/>
          </a:p>
          <a:p>
            <a:pPr marL="285750" indent="-285750">
              <a:buFont typeface="Arial" panose="020B0604020202020204" pitchFamily="34" charset="0"/>
              <a:buChar char="•"/>
            </a:pPr>
            <a:r>
              <a:rPr lang="en-US" sz="1220" dirty="0">
                <a:solidFill>
                  <a:srgbClr val="000000"/>
                </a:solidFill>
                <a:latin typeface="Arial" pitchFamily="34" charset="0"/>
                <a:ea typeface="Arial" pitchFamily="34" charset="-122"/>
                <a:cs typeface="Arial" pitchFamily="34" charset="-120"/>
              </a:rPr>
              <a:t>Relative risks compare each comorbidity group to the no-comorbidity reference</a:t>
            </a:r>
            <a:endParaRPr lang="en-US" sz="1220" dirty="0"/>
          </a:p>
        </p:txBody>
      </p:sp>
      <p:sp>
        <p:nvSpPr>
          <p:cNvPr id="7" name="Shape 3"/>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Fatality risk and death relative risks</a:t>
            </a:r>
            <a:endParaRPr lang="en-US" sz="2500" dirty="0"/>
          </a:p>
        </p:txBody>
      </p:sp>
      <p:pic>
        <p:nvPicPr>
          <p:cNvPr id="4" name="Image 0" descr="/mnt/data/pptx_unzip/ppt/media/image11.png"/>
          <p:cNvPicPr>
            <a:picLocks noChangeAspect="1"/>
          </p:cNvPicPr>
          <p:nvPr/>
        </p:nvPicPr>
        <p:blipFill>
          <a:blip r:embed="rId3"/>
          <a:stretch>
            <a:fillRect/>
          </a:stretch>
        </p:blipFill>
        <p:spPr>
          <a:xfrm>
            <a:off x="1415954" y="1051560"/>
            <a:ext cx="3706053" cy="4480560"/>
          </a:xfrm>
          <a:prstGeom prst="rect">
            <a:avLst/>
          </a:prstGeom>
        </p:spPr>
      </p:pic>
      <p:pic>
        <p:nvPicPr>
          <p:cNvPr id="5" name="Image 1" descr="/mnt/data/pptx_unzip/ppt/media/image12.png"/>
          <p:cNvPicPr>
            <a:picLocks noChangeAspect="1"/>
          </p:cNvPicPr>
          <p:nvPr/>
        </p:nvPicPr>
        <p:blipFill>
          <a:blip r:embed="rId4"/>
          <a:stretch>
            <a:fillRect/>
          </a:stretch>
        </p:blipFill>
        <p:spPr>
          <a:xfrm>
            <a:off x="7114298" y="1234440"/>
            <a:ext cx="3327884" cy="4023360"/>
          </a:xfrm>
          <a:prstGeom prst="rect">
            <a:avLst/>
          </a:prstGeom>
        </p:spPr>
      </p:pic>
      <p:sp>
        <p:nvSpPr>
          <p:cNvPr id="8" name="Shape 4"/>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Global prevalence of underlying conditions by age</a:t>
            </a:r>
            <a:endParaRPr lang="en-US" sz="2500" dirty="0"/>
          </a:p>
        </p:txBody>
      </p:sp>
      <p:pic>
        <p:nvPicPr>
          <p:cNvPr id="4" name="Image 0" descr="/mnt/data/pptx_unzip/ppt/media/image13.png"/>
          <p:cNvPicPr>
            <a:picLocks noChangeAspect="1"/>
          </p:cNvPicPr>
          <p:nvPr/>
        </p:nvPicPr>
        <p:blipFill>
          <a:blip r:embed="rId3"/>
          <a:stretch>
            <a:fillRect/>
          </a:stretch>
        </p:blipFill>
        <p:spPr>
          <a:xfrm>
            <a:off x="640080" y="1170902"/>
            <a:ext cx="6400800" cy="4516196"/>
          </a:xfrm>
          <a:prstGeom prst="rect">
            <a:avLst/>
          </a:prstGeom>
        </p:spPr>
      </p:pic>
      <p:sp>
        <p:nvSpPr>
          <p:cNvPr id="5" name="Text 2"/>
          <p:cNvSpPr/>
          <p:nvPr/>
        </p:nvSpPr>
        <p:spPr>
          <a:xfrm>
            <a:off x="7360920" y="1417320"/>
            <a:ext cx="3931920" cy="16916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230" dirty="0">
                <a:solidFill>
                  <a:srgbClr val="000000"/>
                </a:solidFill>
                <a:latin typeface="Arial" pitchFamily="34" charset="0"/>
                <a:ea typeface="Arial" pitchFamily="34" charset="-122"/>
                <a:cs typeface="Arial" pitchFamily="34" charset="-120"/>
              </a:rPr>
              <a:t>GBD prevalence of underlying conditions</a:t>
            </a:r>
          </a:p>
          <a:p>
            <a:pPr marL="285750" indent="-285750">
              <a:buFont typeface="Arial" panose="020B0604020202020204" pitchFamily="34" charset="0"/>
              <a:buChar char="•"/>
            </a:pPr>
            <a:r>
              <a:rPr lang="en-US" sz="1230" dirty="0">
                <a:solidFill>
                  <a:srgbClr val="000000"/>
                </a:solidFill>
                <a:latin typeface="Arial" pitchFamily="34" charset="0"/>
                <a:ea typeface="Arial" pitchFamily="34" charset="-122"/>
                <a:cs typeface="Arial" pitchFamily="34" charset="-120"/>
              </a:rPr>
              <a:t>Seven underlying conditions were aligned with variables observed in SINAN Brazil surveillance.</a:t>
            </a:r>
            <a:endParaRPr lang="en-US" sz="1230" dirty="0"/>
          </a:p>
          <a:p>
            <a:pPr marL="285750" indent="-285750">
              <a:buFont typeface="Arial" panose="020B0604020202020204" pitchFamily="34" charset="0"/>
              <a:buChar char="•"/>
            </a:pPr>
            <a:r>
              <a:rPr lang="en-US" sz="1230" dirty="0">
                <a:solidFill>
                  <a:srgbClr val="000000"/>
                </a:solidFill>
                <a:latin typeface="Arial" pitchFamily="34" charset="0"/>
                <a:ea typeface="Arial" pitchFamily="34" charset="-122"/>
                <a:cs typeface="Arial" pitchFamily="34" charset="-120"/>
              </a:rPr>
              <a:t>Prevalence is available by country and 5-year age group.</a:t>
            </a:r>
            <a:endParaRPr lang="en-US" sz="1230" dirty="0"/>
          </a:p>
        </p:txBody>
      </p:sp>
      <p:sp>
        <p:nvSpPr>
          <p:cNvPr id="8" name="Shape 5"/>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From disease prevalence to individual disease status</a:t>
            </a:r>
            <a:endParaRPr lang="en-US" sz="2500" dirty="0"/>
          </a:p>
        </p:txBody>
      </p:sp>
      <p:pic>
        <p:nvPicPr>
          <p:cNvPr id="4" name="Image 0" descr="/mnt/data/pptx_unzip/ppt/media/image15.png"/>
          <p:cNvPicPr>
            <a:picLocks noChangeAspect="1"/>
          </p:cNvPicPr>
          <p:nvPr/>
        </p:nvPicPr>
        <p:blipFill>
          <a:blip r:embed="rId3"/>
          <a:stretch>
            <a:fillRect/>
          </a:stretch>
        </p:blipFill>
        <p:spPr>
          <a:xfrm>
            <a:off x="6537960" y="1291735"/>
            <a:ext cx="4572000" cy="2720051"/>
          </a:xfrm>
          <a:prstGeom prst="rect">
            <a:avLst/>
          </a:prstGeom>
        </p:spPr>
      </p:pic>
      <p:sp>
        <p:nvSpPr>
          <p:cNvPr id="5" name="Text 2"/>
          <p:cNvSpPr/>
          <p:nvPr/>
        </p:nvSpPr>
        <p:spPr>
          <a:xfrm>
            <a:off x="777240" y="1078992"/>
            <a:ext cx="5120640" cy="292608"/>
          </a:xfrm>
          <a:prstGeom prst="rect">
            <a:avLst/>
          </a:prstGeom>
          <a:noFill/>
          <a:ln/>
        </p:spPr>
        <p:txBody>
          <a:bodyPr wrap="square" lIns="0" tIns="0" rIns="0" bIns="0" rtlCol="0" anchor="ctr"/>
          <a:lstStyle/>
          <a:p>
            <a:pPr marL="0" indent="0">
              <a:buNone/>
            </a:pPr>
            <a:r>
              <a:rPr lang="en-US" sz="1300" dirty="0">
                <a:solidFill>
                  <a:srgbClr val="666666"/>
                </a:solidFill>
              </a:rPr>
              <a:t>For each country × age group, create 10,000 synthetic individuals.</a:t>
            </a:r>
            <a:endParaRPr lang="en-US" sz="1300" dirty="0"/>
          </a:p>
        </p:txBody>
      </p:sp>
      <p:sp>
        <p:nvSpPr>
          <p:cNvPr id="6" name="Text 3"/>
          <p:cNvSpPr/>
          <p:nvPr/>
        </p:nvSpPr>
        <p:spPr>
          <a:xfrm>
            <a:off x="777240" y="1600200"/>
            <a:ext cx="5303520" cy="201168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Each synthetic individual receives one standardised score for each of the seven conditions (randomly generated scores following normal distribution of N(0,1))</a:t>
            </a:r>
          </a:p>
          <a:p>
            <a:pPr marL="171450" indent="-171450">
              <a:buFont typeface="Arial" panose="020B0604020202020204" pitchFamily="34" charset="0"/>
              <a:buChar char="•"/>
            </a:pPr>
            <a:r>
              <a:rPr lang="en-US" sz="1200" dirty="0">
                <a:solidFill>
                  <a:srgbClr val="000000"/>
                </a:solidFill>
                <a:latin typeface="Arial" pitchFamily="34" charset="0"/>
                <a:cs typeface="Arial" pitchFamily="34" charset="-120"/>
              </a:rPr>
              <a:t>Thresholds for binary classification is defined based on observed prevalence of condition</a:t>
            </a:r>
          </a:p>
          <a:p>
            <a:pPr marL="171450" indent="-171450">
              <a:buFont typeface="Arial" panose="020B0604020202020204" pitchFamily="34" charset="0"/>
              <a:buChar char="•"/>
            </a:pPr>
            <a:r>
              <a:rPr lang="en-US" sz="1200" dirty="0"/>
              <a:t>Jointly combining 7x7 correlation matrix (</a:t>
            </a:r>
            <a:r>
              <a:rPr lang="en-US" sz="1200" dirty="0" err="1"/>
              <a:t>corr</a:t>
            </a:r>
            <a:r>
              <a:rPr lang="en-US" sz="1200" dirty="0"/>
              <a:t> score between 7 conditions) to updated scores </a:t>
            </a:r>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Prevalence determines the condition-specific cut-off</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A 10% prevalence corresponds to a cut-off of 1.28 because 90% of the bell curve lies below 1.28.</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3977640"/>
          <a:ext cx="5166360" cy="1005840"/>
        </p:xfrm>
        <a:graphic>
          <a:graphicData uri="http://schemas.openxmlformats.org/drawingml/2006/table">
            <a:tbl>
              <a:tblPr/>
              <a:tblGrid>
                <a:gridCol w="1554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251460">
                <a:tc>
                  <a:txBody>
                    <a:bodyPr/>
                    <a:lstStyle/>
                    <a:p>
                      <a:pPr marL="0" indent="0">
                        <a:buNone/>
                      </a:pPr>
                      <a:r>
                        <a:rPr lang="en-US" sz="860" dirty="0">
                          <a:solidFill>
                            <a:srgbClr val="000000"/>
                          </a:solidFill>
                        </a:rPr>
                        <a:t>Condition</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Prevalence</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Cut-off</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Positive group</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1460">
                <a:tc>
                  <a:txBody>
                    <a:bodyPr/>
                    <a:lstStyle/>
                    <a:p>
                      <a:pPr marL="0" indent="0">
                        <a:buNone/>
                      </a:pPr>
                      <a:r>
                        <a:rPr lang="en-US" sz="860" dirty="0">
                          <a:solidFill>
                            <a:srgbClr val="000000"/>
                          </a:solidFill>
                        </a:rPr>
                        <a:t>Diabetes</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10%</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1.28</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Highest 10%</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buNone/>
                      </a:pPr>
                      <a:r>
                        <a:rPr lang="en-US" sz="860" dirty="0">
                          <a:solidFill>
                            <a:srgbClr val="000000"/>
                          </a:solidFill>
                        </a:rPr>
                        <a:t>Hypertension</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30%</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0.52</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Highest 30%</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1460">
                <a:tc>
                  <a:txBody>
                    <a:bodyPr/>
                    <a:lstStyle/>
                    <a:p>
                      <a:pPr marL="0" indent="0">
                        <a:buNone/>
                      </a:pPr>
                      <a:r>
                        <a:rPr lang="en-US" sz="860" dirty="0">
                          <a:solidFill>
                            <a:srgbClr val="000000"/>
                          </a:solidFill>
                        </a:rPr>
                        <a:t>Renal disease</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5%</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1.64</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860" dirty="0">
                          <a:solidFill>
                            <a:srgbClr val="000000"/>
                          </a:solidFill>
                        </a:rPr>
                        <a:t>Highest 5%</a:t>
                      </a:r>
                      <a:endParaRPr lang="en-US" sz="860" dirty="0"/>
                    </a:p>
                  </a:txBody>
                  <a:tcPr marL="45720" marR="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4"/>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Disease correlations determine who receives overlapping conditions</a:t>
            </a:r>
            <a:endParaRPr lang="en-US" sz="2500" dirty="0"/>
          </a:p>
        </p:txBody>
      </p:sp>
      <p:pic>
        <p:nvPicPr>
          <p:cNvPr id="4" name="Image 0" descr="/mnt/data/pptx_unzip/ppt/media/image16.jpeg"/>
          <p:cNvPicPr>
            <a:picLocks noChangeAspect="1"/>
          </p:cNvPicPr>
          <p:nvPr/>
        </p:nvPicPr>
        <p:blipFill>
          <a:blip r:embed="rId3"/>
          <a:stretch>
            <a:fillRect/>
          </a:stretch>
        </p:blipFill>
        <p:spPr>
          <a:xfrm>
            <a:off x="407019" y="1234439"/>
            <a:ext cx="6662853" cy="3331427"/>
          </a:xfrm>
          <a:prstGeom prst="rect">
            <a:avLst/>
          </a:prstGeom>
        </p:spPr>
      </p:pic>
      <p:sp>
        <p:nvSpPr>
          <p:cNvPr id="6" name="Text 3"/>
          <p:cNvSpPr/>
          <p:nvPr/>
        </p:nvSpPr>
        <p:spPr>
          <a:xfrm>
            <a:off x="7315200" y="2148840"/>
            <a:ext cx="3977640" cy="192024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170" dirty="0">
                <a:solidFill>
                  <a:srgbClr val="000000"/>
                </a:solidFill>
                <a:latin typeface="Arial" pitchFamily="34" charset="0"/>
                <a:ea typeface="Arial" pitchFamily="34" charset="-122"/>
                <a:cs typeface="Arial" pitchFamily="34" charset="-120"/>
              </a:rPr>
              <a:t>The seven condition scores are first generated as standardised random scores.</a:t>
            </a:r>
            <a:endParaRPr lang="en-US" sz="1170" dirty="0"/>
          </a:p>
          <a:p>
            <a:pPr marL="171450" indent="-171450">
              <a:buFont typeface="Arial" panose="020B0604020202020204" pitchFamily="34" charset="0"/>
              <a:buChar char="•"/>
            </a:pPr>
            <a:r>
              <a:rPr lang="en-US" sz="1170" dirty="0">
                <a:solidFill>
                  <a:srgbClr val="000000"/>
                </a:solidFill>
                <a:latin typeface="Arial" pitchFamily="34" charset="0"/>
                <a:ea typeface="Arial" pitchFamily="34" charset="-122"/>
                <a:cs typeface="Arial" pitchFamily="34" charset="-120"/>
              </a:rPr>
              <a:t>The age-specific correlation matrix then links the scores so related conditions tend to be high in the same synthetic individuals.</a:t>
            </a:r>
            <a:endParaRPr lang="en-US" sz="1170" dirty="0"/>
          </a:p>
          <a:p>
            <a:pPr marL="171450" indent="-171450">
              <a:buFont typeface="Arial" panose="020B0604020202020204" pitchFamily="34" charset="0"/>
              <a:buChar char="•"/>
            </a:pPr>
            <a:r>
              <a:rPr lang="en-US" sz="1170" dirty="0">
                <a:solidFill>
                  <a:srgbClr val="000000"/>
                </a:solidFill>
                <a:latin typeface="Arial" pitchFamily="34" charset="0"/>
                <a:ea typeface="Arial" pitchFamily="34" charset="-122"/>
                <a:cs typeface="Arial" pitchFamily="34" charset="-120"/>
              </a:rPr>
              <a:t>Cut-offs are not changed by the correlation step</a:t>
            </a:r>
          </a:p>
          <a:p>
            <a:pPr marL="171450" indent="-171450">
              <a:buFont typeface="Arial" panose="020B0604020202020204" pitchFamily="34" charset="0"/>
              <a:buChar char="•"/>
            </a:pPr>
            <a:r>
              <a:rPr lang="en-US" sz="1170" dirty="0">
                <a:solidFill>
                  <a:srgbClr val="000000"/>
                </a:solidFill>
                <a:latin typeface="Arial" pitchFamily="34" charset="0"/>
                <a:ea typeface="Arial" pitchFamily="34" charset="-122"/>
                <a:cs typeface="Arial" pitchFamily="34" charset="-120"/>
              </a:rPr>
              <a:t>The same disease-specific thresholds are applied after the scores are linked.</a:t>
            </a:r>
            <a:endParaRPr lang="en-US" sz="1170" dirty="0"/>
          </a:p>
        </p:txBody>
      </p:sp>
      <p:sp>
        <p:nvSpPr>
          <p:cNvPr id="9" name="Shape 6"/>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Counting conditions within the synthetic population</a:t>
            </a:r>
            <a:endParaRPr lang="en-US" sz="2500" dirty="0"/>
          </a:p>
        </p:txBody>
      </p:sp>
      <p:sp>
        <p:nvSpPr>
          <p:cNvPr id="4" name="Text 2"/>
          <p:cNvSpPr/>
          <p:nvPr/>
        </p:nvSpPr>
        <p:spPr>
          <a:xfrm>
            <a:off x="777240" y="1024128"/>
            <a:ext cx="10789920" cy="292608"/>
          </a:xfrm>
          <a:prstGeom prst="rect">
            <a:avLst/>
          </a:prstGeom>
          <a:noFill/>
          <a:ln/>
        </p:spPr>
        <p:txBody>
          <a:bodyPr wrap="square" lIns="0" tIns="0" rIns="0" bIns="0" rtlCol="0" anchor="ctr"/>
          <a:lstStyle/>
          <a:p>
            <a:pPr marL="0" indent="0">
              <a:buNone/>
            </a:pPr>
            <a:r>
              <a:rPr lang="en-US" sz="1300" dirty="0">
                <a:solidFill>
                  <a:srgbClr val="666666"/>
                </a:solidFill>
              </a:rPr>
              <a:t>After applying condition-specific cut-offs, each synthetic individual has seven binary disease indicators.</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126480" cy="1874520"/>
        </p:xfrm>
        <a:graphic>
          <a:graphicData uri="http://schemas.openxmlformats.org/drawingml/2006/table">
            <a:tbl>
              <a:tblPr/>
              <a:tblGrid>
                <a:gridCol w="12801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312420">
                <a:tc>
                  <a:txBody>
                    <a:bodyPr/>
                    <a:lstStyle/>
                    <a:p>
                      <a:pPr marL="0" indent="0">
                        <a:buNone/>
                      </a:pPr>
                      <a:r>
                        <a:rPr lang="en-US" sz="920" dirty="0">
                          <a:solidFill>
                            <a:srgbClr val="000000"/>
                          </a:solidFill>
                        </a:rPr>
                        <a:t>Individual</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Diabetes</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Hypertension</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Renal</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Liver</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Other</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Total</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2420">
                <a:tc>
                  <a:txBody>
                    <a:bodyPr/>
                    <a:lstStyle/>
                    <a:p>
                      <a:pPr marL="0" indent="0">
                        <a:buNone/>
                      </a:pPr>
                      <a:r>
                        <a:rPr lang="en-US" sz="920" dirty="0">
                          <a:solidFill>
                            <a:srgbClr val="000000"/>
                          </a:solidFill>
                        </a:rPr>
                        <a:t>Person 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2420">
                <a:tc>
                  <a:txBody>
                    <a:bodyPr/>
                    <a:lstStyle/>
                    <a:p>
                      <a:pPr marL="0" indent="0">
                        <a:buNone/>
                      </a:pPr>
                      <a:r>
                        <a:rPr lang="en-US" sz="920" dirty="0">
                          <a:solidFill>
                            <a:srgbClr val="000000"/>
                          </a:solidFill>
                        </a:rPr>
                        <a:t>Person 2</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2420">
                <a:tc>
                  <a:txBody>
                    <a:bodyPr/>
                    <a:lstStyle/>
                    <a:p>
                      <a:pPr marL="0" indent="0">
                        <a:buNone/>
                      </a:pPr>
                      <a:r>
                        <a:rPr lang="en-US" sz="920" dirty="0">
                          <a:solidFill>
                            <a:srgbClr val="000000"/>
                          </a:solidFill>
                        </a:rPr>
                        <a:t>Person 3</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2</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2420">
                <a:tc>
                  <a:txBody>
                    <a:bodyPr/>
                    <a:lstStyle/>
                    <a:p>
                      <a:pPr marL="0" indent="0">
                        <a:buNone/>
                      </a:pPr>
                      <a:r>
                        <a:rPr lang="en-US" sz="920" dirty="0">
                          <a:solidFill>
                            <a:srgbClr val="000000"/>
                          </a:solidFill>
                        </a:rPr>
                        <a:t>Person 4</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3</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2420">
                <a:tc>
                  <a:txBody>
                    <a:bodyPr/>
                    <a:lstStyle/>
                    <a:p>
                      <a:pPr marL="0" indent="0">
                        <a:buNone/>
                      </a:pPr>
                      <a:r>
                        <a:rPr lang="en-US" sz="920" dirty="0">
                          <a:solidFill>
                            <a:srgbClr val="000000"/>
                          </a:solidFill>
                        </a:rPr>
                        <a:t>Person 5</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0</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20" dirty="0">
                          <a:solidFill>
                            <a:srgbClr val="000000"/>
                          </a:solidFill>
                        </a:rPr>
                        <a:t>1</a:t>
                      </a:r>
                      <a:endParaRPr lang="en-US" sz="920" dirty="0"/>
                    </a:p>
                  </a:txBody>
                  <a:tcPr marL="36576" marR="36576" marT="36576" marB="36576">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89520" y="1691640"/>
            <a:ext cx="1186490" cy="548640"/>
          </a:xfrm>
          <a:prstGeom prst="rect">
            <a:avLst/>
          </a:prstGeom>
        </p:spPr>
      </p:pic>
      <p:sp>
        <p:nvSpPr>
          <p:cNvPr id="8" name="Shape 3"/>
          <p:cNvSpPr/>
          <p:nvPr/>
        </p:nvSpPr>
        <p:spPr>
          <a:xfrm>
            <a:off x="914400" y="4572000"/>
            <a:ext cx="10149840" cy="566928"/>
          </a:xfrm>
          <a:prstGeom prst="rect">
            <a:avLst/>
          </a:prstGeom>
          <a:solidFill>
            <a:srgbClr val="F7F8FA"/>
          </a:solidFill>
          <a:ln w="7620">
            <a:solidFill>
              <a:srgbClr val="D9D9D9"/>
            </a:solidFill>
            <a:prstDash val="solid"/>
          </a:ln>
        </p:spPr>
        <p:txBody>
          <a:bodyPr/>
          <a:lstStyle/>
          <a:p>
            <a:endParaRPr lang="en-GB"/>
          </a:p>
        </p:txBody>
      </p:sp>
      <p:sp>
        <p:nvSpPr>
          <p:cNvPr id="9" name="Text 4"/>
          <p:cNvSpPr/>
          <p:nvPr/>
        </p:nvSpPr>
        <p:spPr>
          <a:xfrm>
            <a:off x="1078992" y="4690872"/>
            <a:ext cx="9820656" cy="329184"/>
          </a:xfrm>
          <a:prstGeom prst="rect">
            <a:avLst/>
          </a:prstGeom>
          <a:noFill/>
          <a:ln/>
        </p:spPr>
        <p:txBody>
          <a:bodyPr wrap="square" lIns="254" tIns="254" rIns="254" bIns="254" rtlCol="0" anchor="ctr">
            <a:normAutofit/>
          </a:bodyPr>
          <a:lstStyle/>
          <a:p>
            <a:pPr marL="0" indent="0">
              <a:buNone/>
            </a:pPr>
            <a:r>
              <a:rPr lang="en-US" sz="1200" dirty="0">
                <a:solidFill>
                  <a:srgbClr val="1F2A44"/>
                </a:solidFill>
              </a:rPr>
              <a:t>The final output for each country × age group is mutually exclusive: P(0) + P(1) + P(2+) = 1.</a:t>
            </a:r>
            <a:endParaRPr lang="en-US" sz="1200" dirty="0"/>
          </a:p>
        </p:txBody>
      </p:sp>
      <p:sp>
        <p:nvSpPr>
          <p:cNvPr id="10" name="Shape 5"/>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Hospitalisation burden by age and comorbidity status</a:t>
            </a:r>
            <a:endParaRPr lang="en-US" sz="2500" dirty="0"/>
          </a:p>
        </p:txBody>
      </p:sp>
      <p:pic>
        <p:nvPicPr>
          <p:cNvPr id="4" name="Image 0" descr="/mnt/data/pptx_unzip/ppt/media/image17.png"/>
          <p:cNvPicPr>
            <a:picLocks noChangeAspect="1"/>
          </p:cNvPicPr>
          <p:nvPr/>
        </p:nvPicPr>
        <p:blipFill>
          <a:blip r:embed="rId3"/>
          <a:stretch>
            <a:fillRect/>
          </a:stretch>
        </p:blipFill>
        <p:spPr>
          <a:xfrm>
            <a:off x="913519" y="1078992"/>
            <a:ext cx="5396722" cy="4572000"/>
          </a:xfrm>
          <a:prstGeom prst="rect">
            <a:avLst/>
          </a:prstGeom>
        </p:spPr>
      </p:pic>
      <p:sp>
        <p:nvSpPr>
          <p:cNvPr id="5" name="Text 2"/>
          <p:cNvSpPr/>
          <p:nvPr/>
        </p:nvSpPr>
        <p:spPr>
          <a:xfrm>
            <a:off x="6903720" y="1417320"/>
            <a:ext cx="4343400" cy="182880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Young age groups can contribute substantial hospitalisation burden even with lower comorbidity prevalence because infection incidence is high.</a:t>
            </a:r>
            <a:endParaRPr lang="en-US" sz="1200" dirty="0"/>
          </a:p>
        </p:txBody>
      </p:sp>
      <p:sp>
        <p:nvSpPr>
          <p:cNvPr id="6" name="Shape 3"/>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C0B5A-6100-E434-2E6E-8B55DB84250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DC946CD-C6D4-1503-58A8-E43F7A27C6AC}"/>
              </a:ext>
            </a:extLst>
          </p:cNvPr>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Mortality burden by age and comorbidity status</a:t>
            </a:r>
            <a:endParaRPr lang="en-US" sz="2500" dirty="0"/>
          </a:p>
        </p:txBody>
      </p:sp>
      <p:sp>
        <p:nvSpPr>
          <p:cNvPr id="5" name="Text 2">
            <a:extLst>
              <a:ext uri="{FF2B5EF4-FFF2-40B4-BE49-F238E27FC236}">
                <a16:creationId xmlns:a16="http://schemas.microsoft.com/office/drawing/2014/main" id="{B8F70C0D-E583-8EF6-D9D5-F62D6E06E51D}"/>
              </a:ext>
            </a:extLst>
          </p:cNvPr>
          <p:cNvSpPr/>
          <p:nvPr/>
        </p:nvSpPr>
        <p:spPr>
          <a:xfrm>
            <a:off x="6903720" y="1417320"/>
            <a:ext cx="4343400" cy="182880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Young and older age groups can contribute substantial mortality burden.</a:t>
            </a:r>
            <a:endParaRPr lang="en-US" sz="1200" dirty="0"/>
          </a:p>
        </p:txBody>
      </p:sp>
      <p:sp>
        <p:nvSpPr>
          <p:cNvPr id="6" name="Shape 3">
            <a:extLst>
              <a:ext uri="{FF2B5EF4-FFF2-40B4-BE49-F238E27FC236}">
                <a16:creationId xmlns:a16="http://schemas.microsoft.com/office/drawing/2014/main" id="{0E4FB436-D841-D655-9C64-EE49269ACF6E}"/>
              </a:ext>
            </a:extLst>
          </p:cNvPr>
          <p:cNvSpPr/>
          <p:nvPr/>
        </p:nvSpPr>
        <p:spPr>
          <a:xfrm>
            <a:off x="502920" y="6556248"/>
            <a:ext cx="11185855" cy="0"/>
          </a:xfrm>
          <a:prstGeom prst="line">
            <a:avLst/>
          </a:prstGeom>
          <a:noFill/>
          <a:ln w="6350">
            <a:solidFill>
              <a:srgbClr val="D9D9D9"/>
            </a:solidFill>
            <a:prstDash val="solid"/>
          </a:ln>
        </p:spPr>
        <p:txBody>
          <a:bodyPr/>
          <a:lstStyle/>
          <a:p>
            <a:endParaRPr lang="en-GB"/>
          </a:p>
        </p:txBody>
      </p:sp>
      <p:pic>
        <p:nvPicPr>
          <p:cNvPr id="2" name="그림 1">
            <a:extLst>
              <a:ext uri="{FF2B5EF4-FFF2-40B4-BE49-F238E27FC236}">
                <a16:creationId xmlns:a16="http://schemas.microsoft.com/office/drawing/2014/main" id="{92BC14EF-A94B-F03B-1BDF-B876E788ACD6}"/>
              </a:ext>
            </a:extLst>
          </p:cNvPr>
          <p:cNvPicPr>
            <a:picLocks noChangeAspect="1"/>
          </p:cNvPicPr>
          <p:nvPr/>
        </p:nvPicPr>
        <p:blipFill>
          <a:blip r:embed="rId3"/>
          <a:stretch>
            <a:fillRect/>
          </a:stretch>
        </p:blipFill>
        <p:spPr>
          <a:xfrm>
            <a:off x="785828" y="935309"/>
            <a:ext cx="5687786" cy="5143500"/>
          </a:xfrm>
          <a:prstGeom prst="rect">
            <a:avLst/>
          </a:prstGeom>
        </p:spPr>
      </p:pic>
    </p:spTree>
    <p:extLst>
      <p:ext uri="{BB962C8B-B14F-4D97-AF65-F5344CB8AC3E}">
        <p14:creationId xmlns:p14="http://schemas.microsoft.com/office/powerpoint/2010/main" val="3409329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nvSpPr>
        <p:spPr>
          <a:xfrm>
            <a:off x="502920" y="347472"/>
            <a:ext cx="11185855" cy="411480"/>
          </a:xfrm>
          <a:prstGeom prst="rect">
            <a:avLst/>
          </a:prstGeom>
          <a:noFill/>
          <a:ln/>
        </p:spPr>
        <p:txBody>
          <a:bodyPr wrap="square" lIns="0" tIns="0" rIns="0" bIns="0" rtlCol="0" anchor="ctr"/>
          <a:lstStyle/>
          <a:p>
            <a:pPr marL="0" indent="0">
              <a:buNone/>
            </a:pPr>
            <a:r>
              <a:rPr lang="en-US" sz="2500" b="1" dirty="0">
                <a:solidFill>
                  <a:srgbClr val="000000"/>
                </a:solidFill>
                <a:latin typeface="Arial" pitchFamily="34" charset="0"/>
                <a:ea typeface="Arial" pitchFamily="34" charset="-122"/>
                <a:cs typeface="Arial" pitchFamily="34" charset="-120"/>
              </a:rPr>
              <a:t>Hospitalisation burden differs by transmission archetype and comorbidity group</a:t>
            </a:r>
            <a:endParaRPr lang="en-US" sz="2500" dirty="0"/>
          </a:p>
        </p:txBody>
      </p:sp>
      <p:pic>
        <p:nvPicPr>
          <p:cNvPr id="4" name="Image 0" descr="/mnt/data/pptx_unzip/ppt/media/image19.png"/>
          <p:cNvPicPr>
            <a:picLocks noChangeAspect="1"/>
          </p:cNvPicPr>
          <p:nvPr/>
        </p:nvPicPr>
        <p:blipFill>
          <a:blip r:embed="rId3"/>
          <a:stretch>
            <a:fillRect/>
          </a:stretch>
        </p:blipFill>
        <p:spPr>
          <a:xfrm>
            <a:off x="891682" y="1051560"/>
            <a:ext cx="5989035" cy="4709160"/>
          </a:xfrm>
          <a:prstGeom prst="rect">
            <a:avLst/>
          </a:prstGeom>
        </p:spPr>
      </p:pic>
      <p:sp>
        <p:nvSpPr>
          <p:cNvPr id="5" name="Text 2"/>
          <p:cNvSpPr/>
          <p:nvPr/>
        </p:nvSpPr>
        <p:spPr>
          <a:xfrm>
            <a:off x="7315200" y="1325880"/>
            <a:ext cx="3886200" cy="2240280"/>
          </a:xfrm>
          <a:prstGeom prst="rect">
            <a:avLst/>
          </a:prstGeom>
          <a:noFill/>
          <a:ln/>
        </p:spPr>
        <p:txBody>
          <a:bodyPr wrap="square" lIns="635" tIns="635" rIns="635" bIns="635" rtlCol="0" anchor="t">
            <a:normAutofit/>
          </a:bodyPr>
          <a:lstStyle/>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Long-term endemic equilibrium tends to have the lowest and most stable hospitalisation burden.</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Conditional epidemic potential has the highest burden because susceptibility is high and risk is conditional on transmission</a:t>
            </a:r>
            <a:endParaRPr lang="en-US" sz="1200" dirty="0"/>
          </a:p>
          <a:p>
            <a:pPr marL="171450" indent="-171450">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Comorbidity gradients persist across all archetypes.</a:t>
            </a:r>
            <a:endParaRPr lang="en-US" sz="1200" dirty="0"/>
          </a:p>
        </p:txBody>
      </p:sp>
      <p:sp>
        <p:nvSpPr>
          <p:cNvPr id="8" name="Shape 5"/>
          <p:cNvSpPr/>
          <p:nvPr/>
        </p:nvSpPr>
        <p:spPr>
          <a:xfrm>
            <a:off x="502920" y="6556248"/>
            <a:ext cx="11185855" cy="0"/>
          </a:xfrm>
          <a:prstGeom prst="line">
            <a:avLst/>
          </a:prstGeom>
          <a:noFill/>
          <a:ln w="6350">
            <a:solidFill>
              <a:srgbClr val="D9D9D9"/>
            </a:solidFill>
            <a:prstDash val="solid"/>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1523</Words>
  <Application>Microsoft Office PowerPoint</Application>
  <PresentationFormat>와이드스크린</PresentationFormat>
  <Paragraphs>210</Paragraphs>
  <Slides>27</Slides>
  <Notes>21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Transmission archetype classification</dc:title>
  <dc:subject>Transmission archetype and comorbidity burden modelling</dc:subject>
  <dc:creator>OpenAI</dc:creator>
  <cp:lastModifiedBy>효림 강</cp:lastModifiedBy>
  <cp:revision>3</cp:revision>
  <dcterms:created xsi:type="dcterms:W3CDTF">2026-07-24T08:06:28Z</dcterms:created>
  <dcterms:modified xsi:type="dcterms:W3CDTF">2026-08-25T01:18:47Z</dcterms:modified>
</cp:coreProperties>
</file>