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7" r:id="rId2"/>
    <p:sldId id="290" r:id="rId3"/>
    <p:sldId id="291" r:id="rId4"/>
    <p:sldId id="268" r:id="rId5"/>
    <p:sldId id="269" r:id="rId6"/>
    <p:sldId id="270" r:id="rId7"/>
    <p:sldId id="287" r:id="rId8"/>
    <p:sldId id="288" r:id="rId9"/>
    <p:sldId id="289" r:id="rId10"/>
    <p:sldId id="271" r:id="rId11"/>
    <p:sldId id="272" r:id="rId12"/>
    <p:sldId id="273" r:id="rId13"/>
    <p:sldId id="274" r:id="rId14"/>
    <p:sldId id="276" r:id="rId15"/>
    <p:sldId id="278" r:id="rId16"/>
    <p:sldId id="277" r:id="rId17"/>
    <p:sldId id="28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9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8198E-CA4A-4E50-9EC1-B1BC665D26E6}" v="126" dt="2026-09-03T08:26:28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　HYO　LIM" userId="803037b5-35c6-4444-899a-9efafa1e9058" providerId="ADAL" clId="{C74645B2-B756-4BD0-8063-B3421C222799}"/>
    <pc:docChg chg="modSld sldOrd">
      <pc:chgData name="KANG　HYO　LIM" userId="803037b5-35c6-4444-899a-9efafa1e9058" providerId="ADAL" clId="{C74645B2-B756-4BD0-8063-B3421C222799}" dt="2026-09-03T08:30:16.341" v="126"/>
      <pc:docMkLst>
        <pc:docMk/>
      </pc:docMkLst>
      <pc:sldChg chg="addSp">
        <pc:chgData name="KANG　HYO　LIM" userId="803037b5-35c6-4444-899a-9efafa1e9058" providerId="ADAL" clId="{C74645B2-B756-4BD0-8063-B3421C222799}" dt="2026-09-03T07:17:58.530" v="0"/>
        <pc:sldMkLst>
          <pc:docMk/>
          <pc:sldMk cId="1818512529" sldId="288"/>
        </pc:sldMkLst>
        <pc:picChg chg="add">
          <ac:chgData name="KANG　HYO　LIM" userId="803037b5-35c6-4444-899a-9efafa1e9058" providerId="ADAL" clId="{C74645B2-B756-4BD0-8063-B3421C222799}" dt="2026-09-03T07:17:58.530" v="0"/>
          <ac:picMkLst>
            <pc:docMk/>
            <pc:sldMk cId="1818512529" sldId="288"/>
            <ac:picMk id="9" creationId="{94285AAA-EC3F-0849-7702-08C9922CFA20}"/>
          </ac:picMkLst>
        </pc:picChg>
      </pc:sldChg>
      <pc:sldChg chg="addSp modSp ord">
        <pc:chgData name="KANG　HYO　LIM" userId="803037b5-35c6-4444-899a-9efafa1e9058" providerId="ADAL" clId="{C74645B2-B756-4BD0-8063-B3421C222799}" dt="2026-09-03T08:30:16.341" v="126"/>
        <pc:sldMkLst>
          <pc:docMk/>
          <pc:sldMk cId="266494713" sldId="289"/>
        </pc:sldMkLst>
        <pc:spChg chg="add mod">
          <ac:chgData name="KANG　HYO　LIM" userId="803037b5-35c6-4444-899a-9efafa1e9058" providerId="ADAL" clId="{C74645B2-B756-4BD0-8063-B3421C222799}" dt="2026-09-03T07:39:58.594" v="2"/>
          <ac:spMkLst>
            <pc:docMk/>
            <pc:sldMk cId="266494713" sldId="289"/>
            <ac:spMk id="2" creationId="{DCB6474A-657B-FFA7-E61E-6A22C19C87B5}"/>
          </ac:spMkLst>
        </pc:spChg>
        <pc:spChg chg="add mod">
          <ac:chgData name="KANG　HYO　LIM" userId="803037b5-35c6-4444-899a-9efafa1e9058" providerId="ADAL" clId="{C74645B2-B756-4BD0-8063-B3421C222799}" dt="2026-09-03T08:26:28.543" v="125" actId="207"/>
          <ac:spMkLst>
            <pc:docMk/>
            <pc:sldMk cId="266494713" sldId="289"/>
            <ac:spMk id="3" creationId="{4CA1D5B1-B27A-67C1-78DC-2F158C36AE56}"/>
          </ac:spMkLst>
        </pc:spChg>
      </pc:sldChg>
    </pc:docChg>
  </pc:docChgLst>
  <pc:docChgLst>
    <pc:chgData name="효림 강" userId="34c203ecef29604f" providerId="LiveId" clId="{B14AC1DF-18EA-5D30-9538-507AADE114A6}"/>
    <pc:docChg chg="addSld modSld">
      <pc:chgData name="효림 강" userId="34c203ecef29604f" providerId="LiveId" clId="{B14AC1DF-18EA-5D30-9538-507AADE114A6}" dt="2026-09-04T13:08:54.285" v="14"/>
      <pc:docMkLst>
        <pc:docMk/>
      </pc:docMkLst>
      <pc:sldChg chg="modSp">
        <pc:chgData name="효림 강" userId="34c203ecef29604f" providerId="LiveId" clId="{B14AC1DF-18EA-5D30-9538-507AADE114A6}" dt="2026-09-03T12:30:48.941" v="13" actId="20577"/>
        <pc:sldMkLst>
          <pc:docMk/>
          <pc:sldMk cId="266494713" sldId="289"/>
        </pc:sldMkLst>
        <pc:spChg chg="mod">
          <ac:chgData name="효림 강" userId="34c203ecef29604f" providerId="LiveId" clId="{B14AC1DF-18EA-5D30-9538-507AADE114A6}" dt="2026-09-03T12:30:48.941" v="13" actId="20577"/>
          <ac:spMkLst>
            <pc:docMk/>
            <pc:sldMk cId="266494713" sldId="289"/>
            <ac:spMk id="3" creationId="{4CA1D5B1-B27A-67C1-78DC-2F158C36AE56}"/>
          </ac:spMkLst>
        </pc:spChg>
      </pc:sldChg>
      <pc:sldChg chg="add">
        <pc:chgData name="효림 강" userId="34c203ecef29604f" providerId="LiveId" clId="{B14AC1DF-18EA-5D30-9538-507AADE114A6}" dt="2026-09-04T13:08:54.285" v="14"/>
        <pc:sldMkLst>
          <pc:docMk/>
          <pc:sldMk cId="2893634919" sldId="290"/>
        </pc:sldMkLst>
      </pc:sldChg>
      <pc:sldChg chg="add">
        <pc:chgData name="효림 강" userId="34c203ecef29604f" providerId="LiveId" clId="{B14AC1DF-18EA-5D30-9538-507AADE114A6}" dt="2026-09-04T13:08:54.285" v="14"/>
        <pc:sldMkLst>
          <pc:docMk/>
          <pc:sldMk cId="690416225" sldId="291"/>
        </pc:sldMkLst>
      </pc:sldChg>
    </pc:docChg>
  </pc:docChgLst>
  <pc:docChgLst>
    <pc:chgData name="효림 강" userId="34c203ecef29604f" providerId="LiveId" clId="{C74645B2-B756-4BD0-8063-B3421C222799}"/>
    <pc:docChg chg="addSld">
      <pc:chgData name="효림 강" userId="34c203ecef29604f" providerId="LiveId" clId="{C74645B2-B756-4BD0-8063-B3421C222799}" dt="2026-09-14T04:19:06.807" v="0" actId="680"/>
      <pc:docMkLst>
        <pc:docMk/>
      </pc:docMkLst>
      <pc:sldChg chg="new">
        <pc:chgData name="효림 강" userId="34c203ecef29604f" providerId="LiveId" clId="{C74645B2-B756-4BD0-8063-B3421C222799}" dt="2026-09-14T04:19:06.807" v="0" actId="680"/>
        <pc:sldMkLst>
          <pc:docMk/>
          <pc:sldMk cId="1872440350" sldId="29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769A6-82D2-42A2-B3C4-39DBC886D17B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01017-B5A0-438A-AF0E-6C0326B1CA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48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AE9B8-79BC-CD0B-39E2-03644BE0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EDE77-688F-14A0-5A8A-BD615BEE2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36EEC-60F3-7395-FF34-19C26AB94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A14F7-821A-6A48-E4E9-34C3D564F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91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BA4E7-BB72-63E9-DFB6-4814C9444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771855-5098-1C1F-CA21-5B89A8936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4E42DA-8871-240A-63FE-78A37374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AD8634-F39D-D693-CDFA-D7B082000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1DB408-1B66-A209-D8A8-5211010E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139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329E8-E47F-3374-20B4-7F6CEDD6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A80ED1-5767-8407-F53C-F85D64D9E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B7973F-09E3-59E3-1290-7FBED9D5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8BDD2D-9EBB-1C35-E218-25CB130D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5F710E-E70D-E005-54A9-5012A08F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5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B0888-2339-59B6-5216-243B884C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58184C-7720-7A43-B5C9-38FF893F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24CE1-3FA3-6588-63DF-41CF0FD45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106029-A0E6-01A0-97B3-B675AB7F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FAD32F-DD60-483A-F1AC-7D63FEA8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704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354B2-E50E-F0DD-FD9A-73BA6C6A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74BB8-58A8-B3F2-7516-1F6E27C37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14927B-343F-7A5A-A17F-C423C776F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77D823-1B74-522B-CAB5-02CFDFB2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06FD10-AA75-0DAA-DAD6-26F5CD56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EE5D73-573B-EE6C-1DF0-8E356D22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F6F26-D51B-7880-20B9-30815D5F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CA1D96-780C-C5CF-EE57-8FC568A03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5648A-79A8-4C83-9EB2-E8359C660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12F49F-CD61-0770-9799-1C146019B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955420-7349-1AB1-CA61-CDF5A1874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009A14-8960-F3F1-9CA3-082DCB32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4177EC-6CE4-61A2-18FB-60376668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289536-CC29-C9EB-9E58-550BD3EE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57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5408E-5F47-172C-E134-2A5DDF11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CAA8E96-EAA7-937F-2DE7-F0620893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143788-3DBB-D41B-0834-F523B7C5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12DD74-E8CF-E0D5-8646-740BD9C6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37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99DE96-DF06-9801-7A7F-8B190A00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3A9957-895D-64B8-F2F8-64423911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EFB25F-A4A8-8E21-A460-BB1ABCD1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54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77D8B-2129-6C43-4245-412B8A4C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81CF7C-B9F1-4D9E-59F3-AB3C394DC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2D106E-575B-DE4D-A8DD-9EA689A8A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23E3E8-3097-44AF-6A80-54AEE979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0935F4-1330-8430-9AEF-06E763B6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062A6A-ADFB-7FE5-49D5-3982FB98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92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071638-403D-2DCE-7989-B8D56F0C0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7B43C1-C399-D9ED-2F43-5A3188B83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FC644C-BDEC-61FE-55E5-8482A1774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6FB02C-E64C-47C1-A308-6F82E9556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876EA1-7EDE-B329-3E50-DC015CA6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275E1D-CCB7-BD06-8D1C-DFDBCA7E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361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96854-FF8E-A690-C390-04A17808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124DB2-5D2F-413C-08AE-5557F0FE1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5B161-886B-D914-B51A-949AEB77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668F4-5B62-1F1F-14EA-F2DD5791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4CBC8-C755-4625-3BF9-3D36FE16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14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8E8712-297C-1295-FE85-019AA283A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F802C4-C68F-10D0-07CC-06B32DDC4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D5DDD4-DCBB-706B-4493-812AB4AA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9EDD55-3568-C13E-D5A6-5D1316258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DBAA5D-6BFC-5222-1AA6-0B02AF988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7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06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5E014E-581F-7076-7E40-F71321A1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BD31C8-C1D5-696F-87A8-F3BC3B007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ED7A2-7AF5-3A10-59EB-AAE338BE3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34FF8-E992-4F1C-A092-EDB5F049D433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9C932-613B-C51C-865D-713C89F31A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A25CCF-4E78-5274-8583-86B544927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0920C-6BE6-4BFC-BDC2-12183B5A1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965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0000"/>
                </a:solidFill>
              </a:rPr>
              <a:t>Comorbidity-stratified burden model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1F3D0F7-7A3A-8C33-0343-DEEF3E884CF0}"/>
              </a:ext>
            </a:extLst>
          </p:cNvPr>
          <p:cNvSpPr/>
          <p:nvPr/>
        </p:nvSpPr>
        <p:spPr>
          <a:xfrm>
            <a:off x="503072" y="1136611"/>
            <a:ext cx="11185855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800" b="1">
                <a:latin typeface="Calibri" panose="020F0502020204030204" pitchFamily="34" charset="0"/>
                <a:cs typeface="Calibri" panose="020F0502020204030204" pitchFamily="34" charset="0"/>
              </a:rPr>
              <a:t>How chikungunya hospitalisation and mortality risk differ by age and underlying conditions </a:t>
            </a:r>
          </a:p>
          <a:p>
            <a:endParaRPr lang="en-GB" sz="28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b="1">
                <a:latin typeface="Calibri" panose="020F0502020204030204" pitchFamily="34" charset="0"/>
                <a:cs typeface="Calibri" panose="020F0502020204030204" pitchFamily="34" charset="0"/>
              </a:rPr>
              <a:t>0, 1, and 2+ underlying conditions</a:t>
            </a:r>
            <a:r>
              <a:rPr lang="en-GB" sz="2000">
                <a:latin typeface="Calibri" panose="020F0502020204030204" pitchFamily="34" charset="0"/>
                <a:cs typeface="Calibri" panose="020F0502020204030204" pitchFamily="34" charset="0"/>
              </a:rPr>
              <a:t>, with individual conditions as a secondary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 u="sng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Age- and comorbidity-specific disease burden and vaccine benefit–risk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/>
          </a:p>
        </p:txBody>
      </p:sp>
    </p:spTree>
    <p:extLst>
      <p:ext uri="{BB962C8B-B14F-4D97-AF65-F5344CB8AC3E}">
        <p14:creationId xmlns:p14="http://schemas.microsoft.com/office/powerpoint/2010/main" val="289363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FD522D-CF30-2044-CF9C-AE4FC6FE4B53}"/>
                  </a:ext>
                </a:extLst>
              </p:cNvPr>
              <p:cNvSpPr txBox="1"/>
              <p:nvPr/>
            </p:nvSpPr>
            <p:spPr>
              <a:xfrm>
                <a:off x="670033" y="776070"/>
                <a:ext cx="9047747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𝑠𝑦𝑚𝑝𝑡𝑜𝑚𝑎𝑡𝑖𝑐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𝑖𝑛𝑓𝑒𝑐𝑡𝑖𝑜𝑛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 ∗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GB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6FD522D-CF30-2044-CF9C-AE4FC6FE4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33" y="776070"/>
                <a:ext cx="9047747" cy="399405"/>
              </a:xfrm>
              <a:prstGeom prst="rect">
                <a:avLst/>
              </a:prstGeom>
              <a:blipFill>
                <a:blip r:embed="rId2"/>
                <a:stretch>
                  <a:fillRect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F4B809-053E-BD4C-858B-F96263A29322}"/>
              </a:ext>
            </a:extLst>
          </p:cNvPr>
          <p:cNvCxnSpPr/>
          <p:nvPr/>
        </p:nvCxnSpPr>
        <p:spPr>
          <a:xfrm flipV="1">
            <a:off x="2605414" y="1402915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56855D-827C-A3BA-633E-0FAAD3776407}"/>
              </a:ext>
            </a:extLst>
          </p:cNvPr>
          <p:cNvCxnSpPr/>
          <p:nvPr/>
        </p:nvCxnSpPr>
        <p:spPr>
          <a:xfrm flipV="1">
            <a:off x="7580335" y="1367424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834FB7B-E9CF-D76D-A066-3A5258FDE3AC}"/>
              </a:ext>
            </a:extLst>
          </p:cNvPr>
          <p:cNvSpPr txBox="1"/>
          <p:nvPr/>
        </p:nvSpPr>
        <p:spPr>
          <a:xfrm>
            <a:off x="1390391" y="2567836"/>
            <a:ext cx="231731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Determined by FOI (catalytic model) </a:t>
            </a:r>
          </a:p>
          <a:p>
            <a:pPr marL="285750" indent="-285750">
              <a:buFontTx/>
              <a:buChar char="-"/>
            </a:pPr>
            <a:r>
              <a:rPr lang="en-GB"/>
              <a:t>Vary across age, country </a:t>
            </a:r>
          </a:p>
          <a:p>
            <a:pPr marL="285750" indent="-285750">
              <a:buFontTx/>
              <a:buChar char="-"/>
            </a:pPr>
            <a:r>
              <a:rPr lang="en-GB"/>
              <a:t>Model predicted estimates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2C2D6-0BF0-36B5-FF26-FF982816F8E8}"/>
              </a:ext>
            </a:extLst>
          </p:cNvPr>
          <p:cNvSpPr txBox="1"/>
          <p:nvPr/>
        </p:nvSpPr>
        <p:spPr>
          <a:xfrm>
            <a:off x="6096000" y="2586507"/>
            <a:ext cx="2642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Prevalence of background comorbidity groups </a:t>
            </a:r>
          </a:p>
          <a:p>
            <a:r>
              <a:rPr lang="en-GB"/>
              <a:t>- Determined by IHME data</a:t>
            </a:r>
          </a:p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4DF1D5-B875-07AF-C203-58B37CD5B111}"/>
              </a:ext>
            </a:extLst>
          </p:cNvPr>
          <p:cNvSpPr/>
          <p:nvPr/>
        </p:nvSpPr>
        <p:spPr>
          <a:xfrm>
            <a:off x="8281792" y="668884"/>
            <a:ext cx="914399" cy="613776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0A1A7E-9D13-5656-318B-CDAD4A8239AA}"/>
              </a:ext>
            </a:extLst>
          </p:cNvPr>
          <p:cNvCxnSpPr/>
          <p:nvPr/>
        </p:nvCxnSpPr>
        <p:spPr>
          <a:xfrm flipV="1">
            <a:off x="8885129" y="1367424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059B61-439D-59D0-2F21-F9C66BEF9241}"/>
              </a:ext>
            </a:extLst>
          </p:cNvPr>
          <p:cNvSpPr txBox="1"/>
          <p:nvPr/>
        </p:nvSpPr>
        <p:spPr>
          <a:xfrm>
            <a:off x="8738991" y="2551837"/>
            <a:ext cx="2642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Country-, age-, and comorbidity-specific hospitalisation probability among symptomatic CHIKV cases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EBB35-D65E-B266-DBB4-691E9398EA2D}"/>
              </a:ext>
            </a:extLst>
          </p:cNvPr>
          <p:cNvCxnSpPr/>
          <p:nvPr/>
        </p:nvCxnSpPr>
        <p:spPr>
          <a:xfrm flipV="1">
            <a:off x="4922728" y="1402915"/>
            <a:ext cx="0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75FD01-19E6-D95A-71E6-B58EA86A67EC}"/>
              </a:ext>
            </a:extLst>
          </p:cNvPr>
          <p:cNvSpPr txBox="1"/>
          <p:nvPr/>
        </p:nvSpPr>
        <p:spPr>
          <a:xfrm>
            <a:off x="3993715" y="2464719"/>
            <a:ext cx="188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Constant across age, country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09A6F8-52BF-C4EC-5F73-42E75C02FCD1}"/>
              </a:ext>
            </a:extLst>
          </p:cNvPr>
          <p:cNvSpPr txBox="1"/>
          <p:nvPr/>
        </p:nvSpPr>
        <p:spPr>
          <a:xfrm>
            <a:off x="7874695" y="4340833"/>
            <a:ext cx="2642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>
                <a:solidFill>
                  <a:schemeClr val="accent1"/>
                </a:solidFill>
              </a:rPr>
              <a:t>If unavailable: calibrate country-specific overall age-specific hospitalisation rates using Brazil-derived comorbidity RRs.</a:t>
            </a:r>
          </a:p>
        </p:txBody>
      </p:sp>
    </p:spTree>
    <p:extLst>
      <p:ext uri="{BB962C8B-B14F-4D97-AF65-F5344CB8AC3E}">
        <p14:creationId xmlns:p14="http://schemas.microsoft.com/office/powerpoint/2010/main" val="69041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hospitalisation risk by age and comorbidity</a:t>
            </a:r>
            <a:endParaRPr lang="en-US" sz="2500"/>
          </a:p>
        </p:txBody>
      </p:sp>
      <p:pic>
        <p:nvPicPr>
          <p:cNvPr id="4" name="Image 0" descr="/mnt/data/pptx_unzip/ppt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07" y="1051560"/>
            <a:ext cx="5594266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417320"/>
            <a:ext cx="45262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confirmed chikungunya surveillance records from Brazil, 2017–2024.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hospitalisation among confirmed cases.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Predictors: age, sex, and comorbidity-count group.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flexible age-specific risk with no-comorbidity as the reference group.</a:t>
            </a:r>
            <a:endParaRPr lang="en-US" sz="125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hospitalisation relative risks</a:t>
            </a:r>
            <a:endParaRPr lang="en-US" sz="2500"/>
          </a:p>
        </p:txBody>
      </p:sp>
      <p:pic>
        <p:nvPicPr>
          <p:cNvPr id="4" name="Image 0" descr="/mnt/data/pptx_unzip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10" y="758951"/>
            <a:ext cx="6954438" cy="579729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6601" y="1508760"/>
            <a:ext cx="1745166" cy="685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03720" y="2514600"/>
            <a:ext cx="5288280" cy="231407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hospitalisation risk is averaged across female and male patients within each age–comorbidity stratum.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 risks compare each comorbidity group to the no-comorbidity 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baseline hospitalization probability among those who aged 20s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Fatality risk and death relative risks</a:t>
            </a:r>
            <a:endParaRPr lang="en-US" sz="2500"/>
          </a:p>
        </p:txBody>
      </p:sp>
      <p:pic>
        <p:nvPicPr>
          <p:cNvPr id="4" name="Image 0" descr="/mnt/data/pptx_unzip/ppt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77240"/>
            <a:ext cx="4856509" cy="5871443"/>
          </a:xfrm>
          <a:prstGeom prst="rect">
            <a:avLst/>
          </a:prstGeom>
        </p:spPr>
      </p:pic>
      <p:pic>
        <p:nvPicPr>
          <p:cNvPr id="5" name="Image 1" descr="/mnt/data/pptx_unzip/ppt/media/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1025891"/>
            <a:ext cx="4856508" cy="587144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EBB55DD-C545-52C1-BA06-1ECE02266A0C}"/>
              </a:ext>
            </a:extLst>
          </p:cNvPr>
          <p:cNvSpPr/>
          <p:nvPr/>
        </p:nvSpPr>
        <p:spPr>
          <a:xfrm>
            <a:off x="304800" y="417096"/>
            <a:ext cx="3314700" cy="2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risk of </a:t>
            </a:r>
            <a:r>
              <a:rPr lang="en-US" sz="2500" b="1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</a:t>
            </a: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condition </a:t>
            </a:r>
            <a:endParaRPr lang="en-US" sz="250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E407469-42CF-187F-51CB-DCFC2F29EA19}"/>
              </a:ext>
            </a:extLst>
          </p:cNvPr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124209-2974-7F86-27AA-9FFC31683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087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01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F444F20-4918-5517-8A48-DAF9DE3D3C29}"/>
              </a:ext>
            </a:extLst>
          </p:cNvPr>
          <p:cNvSpPr/>
          <p:nvPr/>
        </p:nvSpPr>
        <p:spPr>
          <a:xfrm>
            <a:off x="304800" y="417096"/>
            <a:ext cx="3314700" cy="2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risk of death for each condition </a:t>
            </a:r>
            <a:endParaRPr lang="en-US" sz="250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44EA5F5-F5D1-5E0E-F216-F1D3D4D343CD}"/>
              </a:ext>
            </a:extLst>
          </p:cNvPr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4285AAA-EC3F-0849-7702-08C9922C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1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B6474A-657B-FFA7-E61E-6A22C19C87B5}"/>
              </a:ext>
            </a:extLst>
          </p:cNvPr>
          <p:cNvSpPr txBox="1"/>
          <p:nvPr/>
        </p:nvSpPr>
        <p:spPr>
          <a:xfrm>
            <a:off x="304800" y="401053"/>
            <a:ext cx="116786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Age interaction: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FF0000"/>
                </a:solidFill>
              </a:rPr>
              <a:t>Relative risks of hospitalisation and deaths by age, comorbidity group, and individual condition are based only on Brazil data – extrapolation to other countries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rgbClr val="FF0000"/>
                </a:solidFill>
              </a:rPr>
              <a:t>How to improve transportability?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Age interaction: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000"/>
              <a:t>Is there any age-modifying effect on relative risk given that number of comorbidities are the same?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Severe or hospitalised cases are more likely to be captured in the surveillance system – selection bias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1D5B1-B27A-67C1-78DC-2F158C36AE56}"/>
                  </a:ext>
                </a:extLst>
              </p:cNvPr>
              <p:cNvSpPr txBox="1"/>
              <p:nvPr/>
            </p:nvSpPr>
            <p:spPr>
              <a:xfrm>
                <a:off x="1171074" y="2955598"/>
                <a:ext cx="9047747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𝑠𝑦𝑚𝑝𝑡𝑜𝑚𝑎𝑡𝑖𝑐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𝑖𝑛𝑓𝑒𝑐𝑡𝑖𝑜𝑛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 ∗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GB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A1D5B1-B27A-67C1-78DC-2F158C36A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074" y="2955598"/>
                <a:ext cx="9047747" cy="399405"/>
              </a:xfrm>
              <a:prstGeom prst="rect">
                <a:avLst/>
              </a:prstGeom>
              <a:blipFill>
                <a:blip r:embed="rId2"/>
                <a:stretch>
                  <a:fillRect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985E73F-B065-DF10-2765-E17B37B6DD18}"/>
              </a:ext>
            </a:extLst>
          </p:cNvPr>
          <p:cNvSpPr txBox="1"/>
          <p:nvPr/>
        </p:nvSpPr>
        <p:spPr>
          <a:xfrm>
            <a:off x="513347" y="3902402"/>
            <a:ext cx="116786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GB" sz="2000"/>
              <a:t>Comorbidity and age specific chikungunya disease burden and benefit-risk of vaccine(s) across Latin American countries 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endParaRPr lang="en-GB" sz="2000"/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1. Country specific hospitalisation data (preferably age-specific)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2. Country specific chikungunya case fatality data (preferably age-specific) 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3. (at least above two) will make strong evidence on CHIKVD burden across age/comorbid groups</a:t>
            </a:r>
          </a:p>
          <a:p>
            <a:pPr marL="800100" lvl="1" indent="-342900">
              <a:buFont typeface="Wingdings" panose="05000000000000000000" pitchFamily="2" charset="2"/>
              <a:buChar char="à"/>
            </a:pPr>
            <a:r>
              <a:rPr lang="en-GB" sz="2000"/>
              <a:t>4. (if possible), country specific CHIKV case data along with their comorbidity status (as in Brazil)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6649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prevalence of underlying conditions by age</a:t>
            </a:r>
            <a:endParaRPr lang="en-US" sz="2500"/>
          </a:p>
        </p:txBody>
      </p:sp>
      <p:pic>
        <p:nvPicPr>
          <p:cNvPr id="4" name="Image 0" descr="/mnt/data/pptx_unzip/ppt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70902"/>
            <a:ext cx="6400800" cy="45161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417320"/>
            <a:ext cx="393192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GBD prevalence of underlying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underlying conditions were aligned with variables observed in SINAN Brazil surveillance.</a:t>
            </a:r>
            <a:endParaRPr lang="en-US" sz="123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3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 is available by country and 5-year age group.</a:t>
            </a:r>
            <a:endParaRPr lang="en-US" sz="123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disease prevalence to individual disease status</a:t>
            </a:r>
            <a:endParaRPr lang="en-US" sz="2500"/>
          </a:p>
        </p:txBody>
      </p:sp>
      <p:pic>
        <p:nvPicPr>
          <p:cNvPr id="4" name="Image 0" descr="/mnt/data/pptx_unzip/ppt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91735"/>
            <a:ext cx="4572000" cy="2720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789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For each country × age group, create 10,000 synthetic individuals.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777240" y="1600200"/>
            <a:ext cx="53035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synthetic individual receives one standardised score for each of the seven conditions (randomly generated scores following normal distribution of N(0,1))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Thresholds for binary classification is defined based on observed prevalence of condition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Jointly combining 7x7 correlation matrix (</a:t>
            </a:r>
            <a:r>
              <a:rPr lang="en-US" sz="1200" err="1"/>
              <a:t>corr</a:t>
            </a:r>
            <a:r>
              <a:rPr lang="en-US" sz="1200"/>
              <a:t> score between 7 conditions) to updated scores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Prevalence determines the condition-specific cut-off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10% prevalence corresponds to a cut-off of 1.28 because 90% of the bell curve lies below 1.28.</a:t>
            </a:r>
            <a:endParaRPr lang="en-US" sz="12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777240" y="3977640"/>
          <a:ext cx="5166360" cy="1005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Condition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Prevalence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Cut-off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Positive group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1.28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Highest 10%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Hypertension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0.52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Highest 30%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Renal disease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5%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1.64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>
                          <a:solidFill>
                            <a:srgbClr val="000000"/>
                          </a:solidFill>
                        </a:rPr>
                        <a:t>Highest 5%</a:t>
                      </a:r>
                      <a:endParaRPr lang="en-US" sz="860"/>
                    </a:p>
                  </a:txBody>
                  <a:tcPr marL="45720" marR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correlations determine who receives overlapping conditions</a:t>
            </a:r>
            <a:endParaRPr lang="en-US" sz="2500"/>
          </a:p>
        </p:txBody>
      </p:sp>
      <p:pic>
        <p:nvPicPr>
          <p:cNvPr id="4" name="Image 0" descr="/mnt/data/pptx_unzip/ppt/media/image1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9" y="1234439"/>
            <a:ext cx="6662853" cy="3331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0" y="2148840"/>
            <a:ext cx="39776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condition scores are first generated as standardised random scores.</a:t>
            </a:r>
            <a:endParaRPr lang="en-US" sz="117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age-specific correlation matrix then links the scores so related conditions tend to be high in the same synthetic individuals.</a:t>
            </a:r>
            <a:endParaRPr lang="en-US" sz="117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Cut-offs are not changed by the correlation step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7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disease-specific thresholds are applied after the scores are linked.</a:t>
            </a:r>
            <a:endParaRPr lang="en-US" sz="117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conditions within the synthetic population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777240" y="1024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After applying condition-specific cut-offs, each synthetic individual has seven binary disease indicators.</a:t>
            </a:r>
            <a:endParaRPr lang="en-US" sz="13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685800" y="1554480"/>
          <a:ext cx="6126480" cy="1874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Individual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Diabetes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Hypertension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Renal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Liver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Other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2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3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4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Person 5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20"/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9520" y="1691640"/>
            <a:ext cx="1186490" cy="5486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72000"/>
            <a:ext cx="10149840" cy="566928"/>
          </a:xfrm>
          <a:prstGeom prst="rect">
            <a:avLst/>
          </a:prstGeom>
          <a:solidFill>
            <a:srgbClr val="F7F8FA"/>
          </a:solidFill>
          <a:ln w="762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4"/>
          <p:cNvSpPr/>
          <p:nvPr/>
        </p:nvSpPr>
        <p:spPr>
          <a:xfrm>
            <a:off x="1078992" y="4690872"/>
            <a:ext cx="982065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1F2A44"/>
                </a:solidFill>
              </a:rPr>
              <a:t>The final output for each country × age group is mutually exclusive: P(0) + P(1) + P(2+) = 1.</a:t>
            </a:r>
            <a:endParaRPr lang="en-US" sz="1200"/>
          </a:p>
        </p:txBody>
      </p:sp>
      <p:sp>
        <p:nvSpPr>
          <p:cNvPr id="10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burden by age and comorbidity status</a:t>
            </a:r>
            <a:endParaRPr lang="en-US" sz="2500"/>
          </a:p>
        </p:txBody>
      </p:sp>
      <p:pic>
        <p:nvPicPr>
          <p:cNvPr id="4" name="Image 0" descr="/mnt/data/pptx_unzip/ppt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19" y="1078992"/>
            <a:ext cx="5396722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417320"/>
            <a:ext cx="4343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age groups can contribute substantial hospitalisation burden even with lower comorbidity prevalence because infection incidence is high.</a:t>
            </a:r>
            <a:endParaRPr lang="en-US" sz="1200"/>
          </a:p>
        </p:txBody>
      </p:sp>
      <p:sp>
        <p:nvSpPr>
          <p:cNvPr id="6" name="Shape 3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0B5A-6100-E434-2E6E-8B55DB842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DC946CD-C6D4-1503-58A8-E43F7A27C6AC}"/>
              </a:ext>
            </a:extLst>
          </p:cNvPr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Mortality burden by age and comorbidity status</a:t>
            </a:r>
            <a:endParaRPr lang="en-US" sz="25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F70C0D-E583-8EF6-D9D5-F62D6E06E51D}"/>
              </a:ext>
            </a:extLst>
          </p:cNvPr>
          <p:cNvSpPr/>
          <p:nvPr/>
        </p:nvSpPr>
        <p:spPr>
          <a:xfrm>
            <a:off x="6903720" y="1417320"/>
            <a:ext cx="4343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and older age groups can contribute substantial mortality burden.</a:t>
            </a:r>
            <a:endParaRPr lang="en-US" sz="1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E4FB436-D841-D655-9C64-EE49269ACF6E}"/>
              </a:ext>
            </a:extLst>
          </p:cNvPr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C14EF-A94B-F03B-1BDF-B876E788A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28" y="935309"/>
            <a:ext cx="56877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29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Hospitalisation burden differs by transmission archetype and comorbidity group</a:t>
            </a:r>
            <a:endParaRPr lang="en-US" sz="2500"/>
          </a:p>
        </p:txBody>
      </p:sp>
      <p:pic>
        <p:nvPicPr>
          <p:cNvPr id="4" name="Image 0" descr="/mnt/data/pptx_unzip/ppt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682" y="1051560"/>
            <a:ext cx="5989035" cy="4709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325880"/>
            <a:ext cx="388620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endemic equilibrium tends to have the lowest and most stable hospitalisation burden.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epidemic potential has the highest burden because susceptibility is high and risk is conditional on transmission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Comorbidity gradients persist across all archetypes.</a:t>
            </a:r>
            <a:endParaRPr lang="en-US" sz="1200"/>
          </a:p>
        </p:txBody>
      </p:sp>
      <p:sp>
        <p:nvSpPr>
          <p:cNvPr id="8" name="Shape 5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887" y="2274849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00000"/>
                </a:solidFill>
              </a:rPr>
              <a:t>Transmission archetype and </a:t>
            </a:r>
          </a:p>
          <a:p>
            <a:pPr marL="0" indent="0" algn="ctr">
              <a:buNone/>
            </a:pPr>
            <a:r>
              <a:rPr lang="en-US" sz="3000" b="1">
                <a:solidFill>
                  <a:srgbClr val="000000"/>
                </a:solidFill>
              </a:rPr>
              <a:t>comorbidity-stratified burden model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Analysis step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13232" y="14904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Transmission history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480560" y="1380744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Classify 103 countries into A–D archetypes based on sustained circulation, endemic equilibrium, episodic recurrence, or conditional potential.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905256" y="1801368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13232" y="2459736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13232" y="255117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1325880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Archetype-specific infection model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4480560" y="244144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Replace lifelong continuous exposure with effective historical exposure duration and infection probability.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905256" y="2862072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13232" y="352044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13232" y="361188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1325880" y="3493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Comorbidity structure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4480560" y="35021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Convert 7 underlying-condition prevalences into mutually exclusive 0, 1, and 2+ comorbidity groups.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905256" y="3922776"/>
            <a:ext cx="0" cy="521208"/>
          </a:xfrm>
          <a:prstGeom prst="line">
            <a:avLst/>
          </a:prstGeom>
          <a:noFill/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13232" y="458114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3232" y="467258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325880" y="4553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0000"/>
                </a:solidFill>
              </a:rPr>
              <a:t>Clinical risk and burden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480560" y="4562856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00000"/>
                </a:solidFill>
              </a:rPr>
              <a:t>Apply comorbidity-specific hospitalisation and death risks, then compute hospitalisations, deaths and DALYs.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Motivation: move beyond a single long-term catalytic model?</a:t>
            </a:r>
            <a:endParaRPr lang="en-US" sz="2500"/>
          </a:p>
        </p:txBody>
      </p:sp>
      <p:pic>
        <p:nvPicPr>
          <p:cNvPr id="5" name="Image 0" descr="/mnt/data/pptx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92" y="859536"/>
            <a:ext cx="5256004" cy="45354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1458468"/>
            <a:ext cx="544068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long-term average FOI can make all settings look as if exposure accumulated continuously throughout life.</a:t>
            </a:r>
            <a:endParaRPr lang="en-US" sz="132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problematic where chikungunya was introduced recently or occurs as episodic outbreaks.</a:t>
            </a:r>
            <a:endParaRPr lang="en-US" sz="132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catalytic model can therefore understate incidence and older-age burden in finite-history settings.</a:t>
            </a:r>
            <a:endParaRPr lang="en-US" sz="132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are classified into 4 archetypes</a:t>
            </a:r>
            <a:endParaRPr lang="en-US" sz="2500"/>
          </a:p>
        </p:txBody>
      </p:sp>
      <p:pic>
        <p:nvPicPr>
          <p:cNvPr id="5" name="Image 0" descr="/mnt/data/pptx_unzip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32" y="1283709"/>
            <a:ext cx="6885728" cy="31328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0000"/>
                </a:solidFill>
              </a:rPr>
              <a:t>103 countries classified</a:t>
            </a:r>
            <a:endParaRPr lang="en-US" sz="1600"/>
          </a:p>
        </p:txBody>
      </p:sp>
      <p:sp>
        <p:nvSpPr>
          <p:cNvPr id="7" name="Shape 4"/>
          <p:cNvSpPr/>
          <p:nvPr/>
        </p:nvSpPr>
        <p:spPr>
          <a:xfrm>
            <a:off x="7360920" y="169164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E64B35"/>
          </a:solidFill>
          <a:ln w="12700">
            <a:solidFill>
              <a:srgbClr val="E64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360920" y="17282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A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7863840" y="170992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Finite circulation since introduction</a:t>
            </a:r>
            <a:endParaRPr lang="en-US" sz="1150"/>
          </a:p>
        </p:txBody>
      </p:sp>
      <p:sp>
        <p:nvSpPr>
          <p:cNvPr id="10" name="Text 7"/>
          <p:cNvSpPr/>
          <p:nvPr/>
        </p:nvSpPr>
        <p:spPr>
          <a:xfrm>
            <a:off x="10927080" y="1709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39</a:t>
            </a:r>
            <a:endParaRPr lang="en-US" sz="1150"/>
          </a:p>
        </p:txBody>
      </p:sp>
      <p:sp>
        <p:nvSpPr>
          <p:cNvPr id="11" name="Shape 8"/>
          <p:cNvSpPr/>
          <p:nvPr/>
        </p:nvSpPr>
        <p:spPr>
          <a:xfrm>
            <a:off x="7360920" y="2221992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00A087"/>
          </a:solidFill>
          <a:ln w="12700">
            <a:solidFill>
              <a:srgbClr val="00A0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360920" y="2258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B</a:t>
            </a:r>
            <a:endParaRPr lang="en-US" sz="850"/>
          </a:p>
        </p:txBody>
      </p:sp>
      <p:sp>
        <p:nvSpPr>
          <p:cNvPr id="13" name="Text 10"/>
          <p:cNvSpPr/>
          <p:nvPr/>
        </p:nvSpPr>
        <p:spPr>
          <a:xfrm>
            <a:off x="7863840" y="224028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Long-term endemic equilibrium</a:t>
            </a:r>
            <a:endParaRPr lang="en-US" sz="1150"/>
          </a:p>
        </p:txBody>
      </p:sp>
      <p:sp>
        <p:nvSpPr>
          <p:cNvPr id="14" name="Text 11"/>
          <p:cNvSpPr/>
          <p:nvPr/>
        </p:nvSpPr>
        <p:spPr>
          <a:xfrm>
            <a:off x="10927080" y="22402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12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7360920" y="2752344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3C5488"/>
          </a:solidFill>
          <a:ln w="12700">
            <a:solidFill>
              <a:srgbClr val="3C5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360920" y="27889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C</a:t>
            </a:r>
            <a:endParaRPr lang="en-US" sz="850"/>
          </a:p>
        </p:txBody>
      </p:sp>
      <p:sp>
        <p:nvSpPr>
          <p:cNvPr id="17" name="Text 14"/>
          <p:cNvSpPr/>
          <p:nvPr/>
        </p:nvSpPr>
        <p:spPr>
          <a:xfrm>
            <a:off x="7863840" y="277063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Episodic transmission</a:t>
            </a:r>
            <a:endParaRPr lang="en-US" sz="1150"/>
          </a:p>
        </p:txBody>
      </p:sp>
      <p:sp>
        <p:nvSpPr>
          <p:cNvPr id="18" name="Text 15"/>
          <p:cNvSpPr/>
          <p:nvPr/>
        </p:nvSpPr>
        <p:spPr>
          <a:xfrm>
            <a:off x="10927080" y="27706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42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7360920" y="328269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7A5195"/>
          </a:solidFill>
          <a:ln w="12700">
            <a:solidFill>
              <a:srgbClr val="7A51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360920" y="33192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D</a:t>
            </a:r>
            <a:endParaRPr lang="en-US" sz="850"/>
          </a:p>
        </p:txBody>
      </p:sp>
      <p:sp>
        <p:nvSpPr>
          <p:cNvPr id="21" name="Text 18"/>
          <p:cNvSpPr/>
          <p:nvPr/>
        </p:nvSpPr>
        <p:spPr>
          <a:xfrm>
            <a:off x="7863840" y="330098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0000"/>
                </a:solidFill>
              </a:rPr>
              <a:t>Conditional epidemic potential</a:t>
            </a:r>
            <a:endParaRPr lang="en-US" sz="1150"/>
          </a:p>
        </p:txBody>
      </p:sp>
      <p:sp>
        <p:nvSpPr>
          <p:cNvPr id="22" name="Text 19"/>
          <p:cNvSpPr/>
          <p:nvPr/>
        </p:nvSpPr>
        <p:spPr>
          <a:xfrm>
            <a:off x="10927080" y="33009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000000"/>
                </a:solidFill>
              </a:rPr>
              <a:t>10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infection model: separate past exposure from current risk</a:t>
            </a:r>
            <a:endParaRPr lang="en-US" sz="25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1" y="1444752"/>
            <a:ext cx="3755730" cy="66790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5081" y="1509433"/>
            <a:ext cx="3166946" cy="60322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6440" y="1645920"/>
            <a:ext cx="0" cy="29718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1051560" y="2560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2A44"/>
                </a:solidFill>
              </a:rPr>
              <a:t>Historical immunity</a:t>
            </a:r>
            <a:endParaRPr lang="en-US" sz="1400"/>
          </a:p>
        </p:txBody>
      </p:sp>
      <p:sp>
        <p:nvSpPr>
          <p:cNvPr id="9" name="Text 5"/>
          <p:cNvSpPr/>
          <p:nvPr/>
        </p:nvSpPr>
        <p:spPr>
          <a:xfrm>
            <a:off x="1051560" y="2907792"/>
            <a:ext cx="43891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is an effective historical exposure duration.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determines how much prior outbreaks have depleted susceptible population 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differs by archetype</a:t>
            </a:r>
            <a:endParaRPr lang="en-US" sz="1200"/>
          </a:p>
        </p:txBody>
      </p:sp>
      <p:sp>
        <p:nvSpPr>
          <p:cNvPr id="10" name="Text 6"/>
          <p:cNvSpPr/>
          <p:nvPr/>
        </p:nvSpPr>
        <p:spPr>
          <a:xfrm>
            <a:off x="6400800" y="2560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F2A44"/>
                </a:solidFill>
              </a:rPr>
              <a:t>Current burden year</a:t>
            </a:r>
            <a:endParaRPr lang="en-US" sz="1400"/>
          </a:p>
        </p:txBody>
      </p:sp>
      <p:sp>
        <p:nvSpPr>
          <p:cNvPr id="11" name="Text 7"/>
          <p:cNvSpPr/>
          <p:nvPr/>
        </p:nvSpPr>
        <p:spPr>
          <a:xfrm>
            <a:off x="6400800" y="2907792"/>
            <a:ext cx="46634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is the infection probability during the burden period.</a:t>
            </a:r>
            <a:endParaRPr lang="en-US" sz="1200"/>
          </a:p>
          <a:p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continuous annual risk, q = 1 − exp(−λ).</a:t>
            </a:r>
            <a:endParaRPr lang="en-US" sz="1200"/>
          </a:p>
          <a:p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episodic settings, q is annualised or conditional on an outbreak.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Finite circulation since introduction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E64B35"/>
          </a:solidFill>
          <a:ln w="12700">
            <a:solidFill>
              <a:srgbClr val="E64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A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Transmission history is capped by time since introduction.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645920"/>
            <a:ext cx="2926080" cy="594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840" y="1618488"/>
            <a:ext cx="3234690" cy="6400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2514600"/>
            <a:ext cx="5305750" cy="546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657600"/>
            <a:ext cx="52120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T_c is years since sustained transmission began in country c.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younger than T_c accumulate exposure according to age.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 older than T_c are capped at T_c years of exposure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from assigning a lifetime of exposure to older adults as in endemic setting</a:t>
            </a:r>
            <a:endParaRPr lang="en-US" sz="125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Long-term endemic equilibrium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00A087"/>
          </a:solidFill>
          <a:ln w="12700">
            <a:solidFill>
              <a:srgbClr val="00A0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B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This retains the simple catalytic assumption of continuous exposure from birth.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1828800"/>
            <a:ext cx="1636999" cy="548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480" y="1783080"/>
            <a:ext cx="3207434" cy="5486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840" y="2743200"/>
            <a:ext cx="676656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3840480"/>
            <a:ext cx="54864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exposure grows linearly with age.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cohorts have progressively lower susceptibility.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for countries where transmission is long established and repeatedly observed over time.</a:t>
            </a:r>
            <a:endParaRPr lang="en-US" sz="125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Episodic transmission with inter-epidemic periods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3C5488"/>
          </a:solidFill>
          <a:ln w="12700">
            <a:solidFill>
              <a:srgbClr val="3C5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C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Historical exposure accumulates through discrete epidemic opportunities, not continuously every year.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645920"/>
            <a:ext cx="2286000" cy="4572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1600199"/>
            <a:ext cx="2194112" cy="516091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1645920"/>
            <a:ext cx="1979342" cy="46556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1" y="2606040"/>
            <a:ext cx="5087186" cy="51609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29400" y="2633472"/>
            <a:ext cx="4010950" cy="63093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3840480"/>
            <a:ext cx="640080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τ_c is the inter-epidemic interval; in PSA, τ_c is sampled across 7–20 years.</a:t>
            </a:r>
            <a:endParaRPr lang="en-US" sz="12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counts how many outbreak opportunities an age cohort has experienced.</a:t>
            </a:r>
            <a:endParaRPr lang="en-US" sz="12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h_out converts a long-term annual FOI into one outbreak-level cumulative hazard.</a:t>
            </a:r>
            <a:endParaRPr lang="en-US" sz="125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annualised burden averages a larger outbreak-year risk over epidemic and non-epidemic years.</a:t>
            </a:r>
            <a:endParaRPr lang="en-US" sz="1250"/>
          </a:p>
        </p:txBody>
      </p:sp>
      <p:sp>
        <p:nvSpPr>
          <p:cNvPr id="15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Conditional epidemic potential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777240" y="1051560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7A5195"/>
          </a:solidFill>
          <a:ln w="12700">
            <a:solidFill>
              <a:srgbClr val="7A519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77240" y="10881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D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298448" y="106070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6666"/>
                </a:solidFill>
              </a:rPr>
              <a:t>D estimates burden conditional on epidemic transmission occurring; it is not an unconditional annual burden.</a:t>
            </a:r>
            <a:endParaRPr lang="en-US" sz="13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691640"/>
            <a:ext cx="3962401" cy="468284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606040"/>
            <a:ext cx="4638907" cy="4775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0" y="1600200"/>
            <a:ext cx="40233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assumes no prior sustained local transmission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susceptibility is 1 for all ages.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prior local transmission is later documented, E(D) can be replaced by known historical exposure.</a:t>
            </a:r>
            <a:endParaRPr 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P(outbreak) is not estimated here, D must be labelled as conditional epidemic potential.</a:t>
            </a:r>
            <a:endParaRPr lang="en-US" sz="1200"/>
          </a:p>
        </p:txBody>
      </p:sp>
      <p:sp>
        <p:nvSpPr>
          <p:cNvPr id="13" name="Shape 8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11185855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66666"/>
                </a:solidFill>
              </a:rPr>
              <a:t>INFECTION RESULTS</a:t>
            </a:r>
            <a:endParaRPr lang="en-US" sz="750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Archetype-specific infection incidence</a:t>
            </a:r>
            <a:endParaRPr lang="en-US" sz="2500"/>
          </a:p>
        </p:txBody>
      </p:sp>
      <p:pic>
        <p:nvPicPr>
          <p:cNvPr id="5" name="Image 0" descr="/mnt/data/pptx_unzip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9" y="1106423"/>
            <a:ext cx="7620001" cy="5465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1417320"/>
            <a:ext cx="44805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declines most strongly with age because exposure accumulates continuously from birth.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has flatter older-age incidence because exposure is capped by introduction history.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depends on inter-epidemic timing and event hazard concentration.</a:t>
            </a:r>
            <a:endParaRPr lang="en-US" sz="125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should be interpreted as potential burden if transmission occurs, not expected annual incidence.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502920" y="6556248"/>
            <a:ext cx="1118585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440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1392</Words>
  <Application>Microsoft Office PowerPoint</Application>
  <PresentationFormat>와이드스크린</PresentationFormat>
  <Paragraphs>220</Paragraphs>
  <Slides>27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효림 강</dc:creator>
  <cp:lastModifiedBy>효림 강</cp:lastModifiedBy>
  <cp:revision>1</cp:revision>
  <dcterms:created xsi:type="dcterms:W3CDTF">2026-09-03T07:00:15Z</dcterms:created>
  <dcterms:modified xsi:type="dcterms:W3CDTF">2026-09-14T04:19:10Z</dcterms:modified>
</cp:coreProperties>
</file>